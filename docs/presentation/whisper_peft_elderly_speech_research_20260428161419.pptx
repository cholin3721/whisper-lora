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45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3" Type="http://schemas.openxmlformats.org/officeDocument/2006/relationships/image" Target="../media/image77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77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88.png"/><Relationship Id="rId5" Type="http://schemas.openxmlformats.org/officeDocument/2006/relationships/image" Target="../media/image10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3.png"/><Relationship Id="rId7" Type="http://schemas.openxmlformats.org/officeDocument/2006/relationships/image" Target="../media/image109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0.png"/><Relationship Id="rId5" Type="http://schemas.openxmlformats.org/officeDocument/2006/relationships/image" Target="../media/image115.png"/><Relationship Id="rId10" Type="http://schemas.openxmlformats.org/officeDocument/2006/relationships/image" Target="../media/image119.png"/><Relationship Id="rId4" Type="http://schemas.openxmlformats.org/officeDocument/2006/relationships/image" Target="../media/image114.png"/><Relationship Id="rId9" Type="http://schemas.openxmlformats.org/officeDocument/2006/relationships/image" Target="../media/image1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77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81" r="-181"/>
          <a:stretch/>
        </p:blipFill>
        <p:spPr>
          <a:xfrm>
            <a:off x="952805" y="1524305"/>
            <a:ext cx="761695" cy="758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62695" y="4572000"/>
            <a:ext cx="152705" cy="571500"/>
          </a:xfrm>
          <a:prstGeom prst="roundRect">
            <a:avLst>
              <a:gd name="adj" fmla="val 598802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048902" y="4286707"/>
            <a:ext cx="152705" cy="1143000"/>
          </a:xfrm>
          <a:prstGeom prst="roundRect">
            <a:avLst>
              <a:gd name="adj" fmla="val 59880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9334195" y="3905402"/>
            <a:ext cx="152705" cy="1904695"/>
          </a:xfrm>
          <a:prstGeom prst="roundRect">
            <a:avLst>
              <a:gd name="adj" fmla="val 598802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620402" y="4095598"/>
            <a:ext cx="152705" cy="1524305"/>
          </a:xfrm>
          <a:prstGeom prst="roundRect">
            <a:avLst>
              <a:gd name="adj" fmla="val 59880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9905695" y="4381805"/>
            <a:ext cx="152705" cy="952805"/>
          </a:xfrm>
          <a:prstGeom prst="roundRect">
            <a:avLst>
              <a:gd name="adj" fmla="val 598802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0191902" y="4667098"/>
            <a:ext cx="152705" cy="381305"/>
          </a:xfrm>
          <a:prstGeom prst="roundRect">
            <a:avLst>
              <a:gd name="adj" fmla="val 59880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477195" y="4572000"/>
            <a:ext cx="152705" cy="571500"/>
          </a:xfrm>
          <a:prstGeom prst="roundRect">
            <a:avLst>
              <a:gd name="adj" fmla="val 598802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0763402" y="4714646"/>
            <a:ext cx="152705" cy="286207"/>
          </a:xfrm>
          <a:prstGeom prst="roundRect">
            <a:avLst>
              <a:gd name="adj" fmla="val 59880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952805" y="1904695"/>
            <a:ext cx="6667805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</a:t>
            </a:r>
            <a:r>
              <a:rPr lang="en-US" sz="3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3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음성</a:t>
            </a:r>
            <a:r>
              <a:rPr lang="en-US" sz="3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3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인식</a:t>
            </a:r>
            <a:r>
              <a:rPr lang="en-US" sz="3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3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성능</a:t>
            </a:r>
            <a:r>
              <a:rPr lang="en-US" sz="3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3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개선을</a:t>
            </a:r>
            <a:r>
              <a:rPr lang="en-US" sz="3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3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위한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PEFT </a:t>
            </a:r>
            <a:r>
              <a:rPr lang="en-US" sz="3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r>
              <a:rPr lang="en-US" sz="3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952805" y="4095598"/>
            <a:ext cx="6667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가설 수립 및 실험 설계 — VOTE400 데이터셋 중심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952805" y="4953305"/>
            <a:ext cx="3810305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발표자</a:t>
            </a:r>
            <a:r>
              <a:rPr lang="en-US" sz="16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</a:t>
            </a:r>
            <a:r>
              <a:rPr lang="ko-KR" altLang="en-US" sz="1600" dirty="0" err="1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김철중</a:t>
            </a:r>
            <a:r>
              <a:rPr lang="en-US" sz="16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]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 err="1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일시</a:t>
            </a:r>
            <a:r>
              <a:rPr lang="en-US" sz="16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[1997.07.24] </a:t>
            </a:r>
            <a:endParaRPr lang="en-US" sz="16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21" b="-21"/>
          <a:stretch/>
        </p:blipFill>
        <p:spPr>
          <a:xfrm>
            <a:off x="9430207" y="1904695"/>
            <a:ext cx="1333195" cy="1524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571500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524305"/>
            <a:ext cx="5162702" cy="2257654"/>
          </a:xfrm>
          <a:prstGeom prst="roundRect">
            <a:avLst>
              <a:gd name="adj" fmla="val 4101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86500" y="1524305"/>
            <a:ext cx="5181905" cy="2276856"/>
          </a:xfrm>
          <a:prstGeom prst="roundRect">
            <a:avLst>
              <a:gd name="adj" fmla="val 4033"/>
            </a:avLst>
          </a:prstGeom>
          <a:solidFill>
            <a:srgbClr val="FFF8F0"/>
          </a:solidFill>
          <a:ln w="25400">
            <a:solidFill>
              <a:srgbClr val="E07B00"/>
            </a:solidFill>
            <a:prstDash val="solid"/>
          </a:ln>
          <a:effectLst>
            <a:outerShdw blurRad="114300" dist="38100" dir="16200000" algn="bl" rotWithShape="0">
              <a:srgbClr val="E07B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4048049"/>
            <a:ext cx="5162702" cy="2257654"/>
          </a:xfrm>
          <a:prstGeom prst="roundRect">
            <a:avLst>
              <a:gd name="adj" fmla="val 4101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86500" y="4048049"/>
            <a:ext cx="5162702" cy="2257654"/>
          </a:xfrm>
          <a:prstGeom prst="roundRect">
            <a:avLst>
              <a:gd name="adj" fmla="val 4101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000354" y="523951"/>
            <a:ext cx="4763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목차 </a:t>
            </a:r>
            <a:r>
              <a:rPr lang="en-US" sz="1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0" y="571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02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6307" y="1848002"/>
            <a:ext cx="304495" cy="3044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19402" y="1857146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1. 도입 </a:t>
            </a:r>
            <a:r>
              <a:rPr 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[Slides 3-6]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276502" y="2381098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용어 정의 (대학교 1학년 수준)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276502" y="2672791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연구 배경: 초고령사회와 돌봄 수요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76502" y="2964485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문제 정의: 기존 STT의 노인 음성 취약점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276502" y="3255264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연구 목적 및 학술적/응용적 기여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6648602" y="1848002"/>
            <a:ext cx="228600" cy="3044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44207" y="1857146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2. 가설 ⭐ </a:t>
            </a:r>
            <a:r>
              <a:rPr lang="en-US" sz="1200" b="1" dirty="0">
                <a:solidFill>
                  <a:srgbClr val="885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 7]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6801307" y="2381098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[주가설 H1]</a:t>
            </a:r>
            <a:r>
              <a:rPr lang="en-US" sz="1300" b="1" dirty="0">
                <a:solidFill>
                  <a:srgbClr val="663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Whisper + LoRA PEFT의 CER 개선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801307" y="2672791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[부가설 H2]</a:t>
            </a:r>
            <a:r>
              <a:rPr lang="en-US" sz="1300" b="1" dirty="0">
                <a:solidFill>
                  <a:srgbClr val="663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노인용 VAD 재조정에 따른 오류 감소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6801307" y="2964485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63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검증 가능한 통계적 지표 수립</a:t>
            </a:r>
            <a:endParaRPr lang="en-US" sz="13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6307" y="4371746"/>
            <a:ext cx="304495" cy="3044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619402" y="4381805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3. 방법론 </a:t>
            </a:r>
            <a:r>
              <a:rPr 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[Slides 8-12]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76502" y="4905756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관련 연구 동향 및 Research Gap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1276502" y="5196535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데이터셋: VOTE400 계층화 분할 구조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1276502" y="5488229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제안 파이프라인: 전처리 모듈 및 흐름도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1276502" y="5779922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+ LoRA 기반 파인튜닝 세부 설정</a:t>
            </a:r>
            <a:endParaRPr lang="en-US" sz="13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10198" y="4371746"/>
            <a:ext cx="304495" cy="3044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144207" y="4381805"/>
            <a:ext cx="4000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4. 검증 </a:t>
            </a:r>
            <a:r>
              <a:rPr 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[Slides 13-17]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6801307" y="4905756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실험 설계: Ablation 비교군 (E0/E1/E2)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801307" y="5196535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평가지표 및 통계적 검증 방법론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801307" y="5488229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기대 결과 및 가설 기각 시 해석 시나리오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6801307" y="5779922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연구의 한계 및 향후 연구 방향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761695" y="6476695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571500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238098"/>
            <a:ext cx="5162702" cy="1591056"/>
          </a:xfrm>
          <a:prstGeom prst="roundRect">
            <a:avLst>
              <a:gd name="adj" fmla="val 825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86500" y="1238098"/>
            <a:ext cx="5162702" cy="1591056"/>
          </a:xfrm>
          <a:prstGeom prst="roundRect">
            <a:avLst>
              <a:gd name="adj" fmla="val 825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2952598"/>
            <a:ext cx="5162702" cy="1591056"/>
          </a:xfrm>
          <a:prstGeom prst="roundRect">
            <a:avLst>
              <a:gd name="adj" fmla="val 825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86500" y="2952598"/>
            <a:ext cx="5162702" cy="1591056"/>
          </a:xfrm>
          <a:prstGeom prst="roundRect">
            <a:avLst>
              <a:gd name="adj" fmla="val 825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1695" y="4667098"/>
            <a:ext cx="5162702" cy="1591056"/>
          </a:xfrm>
          <a:prstGeom prst="roundRect">
            <a:avLst>
              <a:gd name="adj" fmla="val 825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286500" y="4667098"/>
            <a:ext cx="5162702" cy="1591056"/>
          </a:xfrm>
          <a:prstGeom prst="roundRect">
            <a:avLst>
              <a:gd name="adj" fmla="val 825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52805" y="1429207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76695" y="1429207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52805" y="3143707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76695" y="3143707"/>
            <a:ext cx="457200" cy="45720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52805" y="4858207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76695" y="4858207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00354" y="523951"/>
            <a:ext cx="525048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핵심 용어 정의 </a:t>
            </a:r>
            <a:r>
              <a:rPr lang="en-US" sz="1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1. 도입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10287000" y="571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03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0082" y="1561795"/>
            <a:ext cx="142646" cy="19019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71854" y="1380744"/>
            <a:ext cx="4144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STT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Speech-to-Text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809598" y="1695298"/>
            <a:ext cx="3906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받아쓰기 AI</a:t>
            </a:r>
            <a:endParaRPr lang="en-US" sz="12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647749" y="1721815"/>
            <a:ext cx="105156" cy="133502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571854" y="2018995"/>
            <a:ext cx="4144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사람의 음성을 인식하여 텍스트로 자동 변환하는 기술</a:t>
            </a:r>
            <a:endParaRPr lang="en-US" sz="11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6596482" y="1561795"/>
            <a:ext cx="219456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095744" y="1380744"/>
            <a:ext cx="4144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CER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 Error Rate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333488" y="1695298"/>
            <a:ext cx="3906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맞춤법 시험 오답률</a:t>
            </a:r>
            <a:endParaRPr lang="en-US" sz="1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7172554" y="1721815"/>
            <a:ext cx="105156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095744" y="2018995"/>
            <a:ext cx="4144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글자 중 잘못 인식된 글자의 비율 (수치가 낮을수록 음성 인식 성능이 우수함)</a:t>
            </a:r>
            <a:endParaRPr lang="en-US" sz="11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61618" y="3276295"/>
            <a:ext cx="237744" cy="19019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571854" y="3095244"/>
            <a:ext cx="4144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Whisper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 STT Model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1809598" y="3409798"/>
            <a:ext cx="3906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STT계의 만능 번역기</a:t>
            </a:r>
            <a:endParaRPr lang="en-US" sz="1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647749" y="3436315"/>
            <a:ext cx="105156" cy="1335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571854" y="3733495"/>
            <a:ext cx="4144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OpenAI가 68만 시간의 다국어 데이터로 학습시켜 노이즈와 다양한 억양에 강건한 음성 인식 모델</a:t>
            </a:r>
            <a:endParaRPr lang="en-US" sz="11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6620256" y="3276295"/>
            <a:ext cx="171907" cy="1901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7095744" y="3095244"/>
            <a:ext cx="47914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PEFT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Parameter-Efficient Fine-Tuning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7333488" y="3409798"/>
            <a:ext cx="3906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두꺼운 사전에 얇은 부록만 끼워넣기</a:t>
            </a:r>
            <a:endParaRPr lang="en-US" sz="12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7172554" y="3436315"/>
            <a:ext cx="105156" cy="133502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095744" y="3733495"/>
            <a:ext cx="4144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거대한 AI 모델 전체를 재학습하지 않고, 핵심 파라미터 일부만 효율적으로 미세조정하는 기법</a:t>
            </a:r>
            <a:endParaRPr lang="en-US" sz="11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rcRect l="-1648" r="-1648"/>
          <a:stretch/>
        </p:blipFill>
        <p:spPr>
          <a:xfrm>
            <a:off x="1095451" y="4990795"/>
            <a:ext cx="171907" cy="1901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571854" y="4809744"/>
            <a:ext cx="4144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LoRA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Low-Rank Adaptation</a:t>
            </a:r>
            <a:endParaRPr lang="en-US" sz="1600" dirty="0"/>
          </a:p>
        </p:txBody>
      </p:sp>
      <p:sp>
        <p:nvSpPr>
          <p:cNvPr id="42" name="Text 31"/>
          <p:cNvSpPr txBox="1"/>
          <p:nvPr/>
        </p:nvSpPr>
        <p:spPr>
          <a:xfrm>
            <a:off x="1809598" y="5124298"/>
            <a:ext cx="3906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원본 책 훼손 없이 포스트잇만 붙여 필기하기</a:t>
            </a:r>
            <a:endParaRPr lang="en-US" sz="12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647749" y="5150815"/>
            <a:ext cx="105156" cy="13350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571854" y="5447995"/>
            <a:ext cx="4144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PEFT의 대표적 방법으로, 기존 가중치는 고정하고 추가적인 작은 행렬(Adapter)만 학습하는 방식</a:t>
            </a:r>
            <a:endParaRPr lang="en-US" sz="11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10198" y="4990795"/>
            <a:ext cx="190195" cy="190195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095744" y="4809744"/>
            <a:ext cx="41440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VAD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Activity Detection</a:t>
            </a:r>
            <a:endParaRPr lang="en-US" sz="1600" dirty="0"/>
          </a:p>
        </p:txBody>
      </p:sp>
      <p:sp>
        <p:nvSpPr>
          <p:cNvPr id="47" name="Text 34"/>
          <p:cNvSpPr txBox="1"/>
          <p:nvPr/>
        </p:nvSpPr>
        <p:spPr>
          <a:xfrm>
            <a:off x="7333488" y="5124298"/>
            <a:ext cx="3906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녹음본에서 사람이 말한 구간만 가위로 잘라내기</a:t>
            </a:r>
            <a:endParaRPr lang="en-US" sz="120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7172554" y="5150815"/>
            <a:ext cx="105156" cy="133502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095744" y="5447995"/>
            <a:ext cx="4144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오디오 신호 내에서 의미 있는 음성이 존재하는 구간(발화 구간)만을 탐지하는 기술</a:t>
            </a:r>
            <a:endParaRPr lang="en-US" sz="1100" dirty="0"/>
          </a:p>
        </p:txBody>
      </p:sp>
      <p:sp>
        <p:nvSpPr>
          <p:cNvPr id="50" name="Text 36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047902"/>
            <a:ext cx="5162702" cy="972007"/>
          </a:xfrm>
          <a:prstGeom prst="roundRect">
            <a:avLst>
              <a:gd name="adj" fmla="val 2213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2190902"/>
            <a:ext cx="5162702" cy="972007"/>
          </a:xfrm>
          <a:prstGeom prst="roundRect">
            <a:avLst>
              <a:gd name="adj" fmla="val 2213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3333902"/>
            <a:ext cx="5162702" cy="972007"/>
          </a:xfrm>
          <a:prstGeom prst="roundRect">
            <a:avLst>
              <a:gd name="adj" fmla="val 2213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4476902"/>
            <a:ext cx="5143500" cy="1714500"/>
          </a:xfrm>
          <a:prstGeom prst="roundRect">
            <a:avLst>
              <a:gd name="adj" fmla="val 7111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1F4E7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86500" y="1047902"/>
            <a:ext cx="5162702" cy="5162702"/>
          </a:xfrm>
          <a:prstGeom prst="roundRect">
            <a:avLst>
              <a:gd name="adj" fmla="val 784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0354" y="1285646"/>
            <a:ext cx="476402" cy="476402"/>
          </a:xfrm>
          <a:prstGeom prst="ellipse">
            <a:avLst/>
          </a:prstGeom>
          <a:solidFill>
            <a:srgbClr val="1F4E7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00354" y="2428646"/>
            <a:ext cx="476402" cy="476402"/>
          </a:xfrm>
          <a:prstGeom prst="ellipse">
            <a:avLst/>
          </a:prstGeom>
          <a:solidFill>
            <a:srgbClr val="E07B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00354" y="3571646"/>
            <a:ext cx="476402" cy="476402"/>
          </a:xfrm>
          <a:prstGeom prst="ellipse">
            <a:avLst/>
          </a:prstGeom>
          <a:solidFill>
            <a:srgbClr val="1F4E7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00354" y="428854"/>
            <a:ext cx="890717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연구 배경: 초고령사회와 STT의 한계 </a:t>
            </a:r>
            <a:r>
              <a:rPr lang="en-US" sz="1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1. 도입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10287000" y="4764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04</a:t>
            </a:r>
            <a:endParaRPr lang="en-US" sz="12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rcRect t="-12500" b="-12500"/>
          <a:stretch/>
        </p:blipFill>
        <p:spPr>
          <a:xfrm>
            <a:off x="1133856" y="1419149"/>
            <a:ext cx="209398" cy="20939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666951" y="1190549"/>
            <a:ext cx="35542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65세 이상 인구 비율 (초고령사회 진입 임박)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666951" y="1447495"/>
            <a:ext cx="3333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20.3</a:t>
            </a:r>
            <a:r>
              <a:rPr lang="en-US" sz="18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2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1133856" y="2562149"/>
            <a:ext cx="209398" cy="20939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666951" y="2333549"/>
            <a:ext cx="3333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연간 고독사 발생 (돌봄 사각지대 심화)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666951" y="2590495"/>
            <a:ext cx="3333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3,924</a:t>
            </a:r>
            <a:r>
              <a:rPr lang="en-US" sz="18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명</a:t>
            </a:r>
            <a:endParaRPr lang="en-US" sz="2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1133856" y="3705149"/>
            <a:ext cx="209398" cy="20939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666951" y="3476549"/>
            <a:ext cx="3333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1인 가구 및 독거노인 비율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666951" y="3733495"/>
            <a:ext cx="33339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지속적 증가 추세</a:t>
            </a:r>
            <a:endParaRPr lang="en-US" sz="2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37844" y="472470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29207" y="4714646"/>
            <a:ext cx="4191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기술 수요와 현실의 한계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000354" y="5143500"/>
            <a:ext cx="4668012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기반의 노인 돌봄 및 소통 기술 수요가 급증하고 있으나, 기존 상용 STT 모델은 주로 </a:t>
            </a: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'젊은 성인'의 명확한 발화</a:t>
            </a:r>
            <a:r>
              <a:rPr lang="en-US" sz="120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바탕으로 학습되어 노인의 음성 인식에 심각한 제약을 보입니다. 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6667805" y="1333195"/>
            <a:ext cx="4381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고령 인구 및 독거노인 비율 변화 추이</a:t>
            </a:r>
            <a:endParaRPr lang="en-US" sz="15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3" r="-3"/>
          <a:stretch/>
        </p:blipFill>
        <p:spPr>
          <a:xfrm>
            <a:off x="6381598" y="1714500"/>
            <a:ext cx="4953305" cy="40005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525305" y="5810098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출처: 통계청 (2024)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143000"/>
            <a:ext cx="5162702" cy="1733702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86500" y="1143000"/>
            <a:ext cx="5162702" cy="1733702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3143707"/>
            <a:ext cx="5181905" cy="1752905"/>
          </a:xfrm>
          <a:prstGeom prst="roundRect">
            <a:avLst>
              <a:gd name="adj" fmla="val 6804"/>
            </a:avLst>
          </a:prstGeom>
          <a:solidFill>
            <a:srgbClr val="FFF8F0"/>
          </a:solidFill>
          <a:ln w="25400">
            <a:solidFill>
              <a:srgbClr val="E07B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86500" y="3143707"/>
            <a:ext cx="5162702" cy="1733702"/>
          </a:xfrm>
          <a:prstGeom prst="roundRect">
            <a:avLst>
              <a:gd name="adj" fmla="val 695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15" b="-15"/>
          <a:stretch/>
        </p:blipFill>
        <p:spPr>
          <a:xfrm>
            <a:off x="761695" y="5143500"/>
            <a:ext cx="10668305" cy="9528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00354" y="1380744"/>
            <a:ext cx="476402" cy="476402"/>
          </a:xfrm>
          <a:prstGeom prst="ellipse">
            <a:avLst/>
          </a:prstGeom>
          <a:solidFill>
            <a:srgbClr val="1F4E7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524244" y="1380744"/>
            <a:ext cx="476402" cy="476402"/>
          </a:xfrm>
          <a:prstGeom prst="ellipse">
            <a:avLst/>
          </a:prstGeom>
          <a:solidFill>
            <a:srgbClr val="1F4E7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000354" y="3381451"/>
            <a:ext cx="476402" cy="476402"/>
          </a:xfrm>
          <a:prstGeom prst="ellipse">
            <a:avLst/>
          </a:prstGeom>
          <a:solidFill>
            <a:srgbClr val="E07B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524244" y="3381451"/>
            <a:ext cx="476402" cy="476402"/>
          </a:xfrm>
          <a:prstGeom prst="ellipse">
            <a:avLst/>
          </a:prstGeom>
          <a:solidFill>
            <a:srgbClr val="1F4E7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00354" y="428854"/>
            <a:ext cx="988557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문제 정의: 노인 음성의 STT 취약점 4가지 </a:t>
            </a:r>
            <a:r>
              <a:rPr lang="en-US" sz="1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1. 도입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10287000" y="4764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05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3798" y="1505102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66951" y="1333195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느린 발화 속도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666951" y="1666951"/>
            <a:ext cx="4000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일반 성인 대비 </a:t>
            </a: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60~70% 수준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 느린 속도로 발화하여 모델의 어절 예측 및 문맥 파악을 방해함. 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953158" y="2333549"/>
            <a:ext cx="25712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예상 오류 유형: Insertion (삽입) 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781251" y="2407615"/>
            <a:ext cx="114300" cy="133502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6620256" y="1505102"/>
            <a:ext cx="286207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91756" y="1333195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구음 장애 및 발음 불명료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191756" y="1666951"/>
            <a:ext cx="4000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틀니 착용, 노화로 인한 조음 기관 기능 저하로 발음이 부정확해져 정상적인 텍스트-음소 매핑에 실패함.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7477963" y="2333549"/>
            <a:ext cx="25712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예상 오류 유형: Substitution (대치) 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306056" y="2407615"/>
            <a:ext cx="114300" cy="133502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23798" y="3504895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666951" y="3333902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불규칙한 긴 침묵 (휴지)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1666951" y="3666744"/>
            <a:ext cx="4000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하나의 문장 발화 중간에 </a:t>
            </a: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2초 이상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 무음이 빈번히 발생하여 기존 VAD가 발화 종료로 오판함. 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1953158" y="4334256"/>
            <a:ext cx="25712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예상 오류 유형: Deletion (누락) </a:t>
            </a:r>
            <a:endParaRPr lang="en-US" sz="12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1781251" y="4407408"/>
            <a:ext cx="114300" cy="133502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6620256" y="3504895"/>
            <a:ext cx="286207" cy="228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191756" y="3333902"/>
            <a:ext cx="4000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헛기침 및 비음성 잡음 혼입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7191756" y="3666744"/>
            <a:ext cx="4000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발화 도중 한숨, 쇳소리, 잦은 헛기침 등 비음성적 잡음이 섞여 들어가 인식률 저하를 유발함.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7477963" y="4334256"/>
            <a:ext cx="25712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예상 오류 유형: Sub / Ins 혼합 </a:t>
            </a:r>
            <a:endParaRPr lang="en-US" sz="12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5"/>
          <a:srcRect t="-1100" b="-1100"/>
          <a:stretch/>
        </p:blipFill>
        <p:spPr>
          <a:xfrm>
            <a:off x="7306056" y="4407408"/>
            <a:ext cx="114300" cy="133502"/>
          </a:xfrm>
          <a:prstGeom prst="rect">
            <a:avLst/>
          </a:prstGeom>
        </p:spPr>
      </p:pic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81405" y="5467198"/>
            <a:ext cx="304495" cy="30449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714500" y="5315407"/>
            <a:ext cx="9335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Whisper Baseline 추정 CER </a:t>
            </a:r>
            <a:r>
              <a:rPr lang="en-US" sz="2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20~30%</a:t>
            </a:r>
            <a:r>
              <a:rPr lang="en-US" sz="1300" b="1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(일반 성인 대비 4~5배 악화)</a:t>
            </a:r>
            <a:endParaRPr lang="en-US" sz="1800" dirty="0"/>
          </a:p>
        </p:txBody>
      </p:sp>
      <p:sp>
        <p:nvSpPr>
          <p:cNvPr id="39" name="Text 27"/>
          <p:cNvSpPr txBox="1"/>
          <p:nvPr/>
        </p:nvSpPr>
        <p:spPr>
          <a:xfrm>
            <a:off x="1714500" y="5692140"/>
            <a:ext cx="10176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기존 상용 모델의 일반화 능력만으로는 해결할 수 없는 한계점이며, </a:t>
            </a: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연구가 PEFT 파인튜닝을 통해 검증하고 해결할 핵심 문제</a:t>
            </a:r>
            <a:r>
              <a:rPr lang="en-US" sz="1200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입니다. 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143000"/>
            <a:ext cx="10668305" cy="1047902"/>
          </a:xfrm>
          <a:prstGeom prst="roundRect">
            <a:avLst>
              <a:gd name="adj" fmla="val 19039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1F4E7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2572207"/>
            <a:ext cx="3353105" cy="3638398"/>
          </a:xfrm>
          <a:prstGeom prst="roundRect">
            <a:avLst>
              <a:gd name="adj" fmla="val 185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429354" y="2572207"/>
            <a:ext cx="3353105" cy="3638398"/>
          </a:xfrm>
          <a:prstGeom prst="roundRect">
            <a:avLst>
              <a:gd name="adj" fmla="val 1859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096098" y="2572207"/>
            <a:ext cx="3372307" cy="3657600"/>
          </a:xfrm>
          <a:prstGeom prst="roundRect">
            <a:avLst>
              <a:gd name="adj" fmla="val 1838"/>
            </a:avLst>
          </a:prstGeom>
          <a:solidFill>
            <a:srgbClr val="FFF8F0"/>
          </a:solidFill>
          <a:ln w="25400">
            <a:solidFill>
              <a:srgbClr val="E07B00">
                <a:alpha val="30000"/>
              </a:srgbClr>
            </a:solidFill>
            <a:prstDash val="solid"/>
          </a:ln>
          <a:effectLst>
            <a:outerShdw blurRad="114300" dist="38100" dir="16200000" algn="bl" rotWithShape="0">
              <a:srgbClr val="E07B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52805" y="2809951"/>
            <a:ext cx="571500" cy="571500"/>
          </a:xfrm>
          <a:prstGeom prst="ellipse">
            <a:avLst/>
          </a:prstGeom>
          <a:solidFill>
            <a:srgbClr val="1F4E7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9549" y="2809951"/>
            <a:ext cx="571500" cy="571500"/>
          </a:xfrm>
          <a:prstGeom prst="ellipse">
            <a:avLst/>
          </a:prstGeom>
          <a:solidFill>
            <a:srgbClr val="1F4E7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287207" y="2809951"/>
            <a:ext cx="571500" cy="571500"/>
          </a:xfrm>
          <a:prstGeom prst="ellipse">
            <a:avLst/>
          </a:prstGeom>
          <a:solidFill>
            <a:srgbClr val="E07B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1000354" y="428854"/>
            <a:ext cx="90489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연구 목적 및 기여 </a:t>
            </a:r>
            <a:r>
              <a:rPr lang="en-US" sz="1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1. 도입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10287000" y="4764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06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4654" y="1543507"/>
            <a:ext cx="342900" cy="3429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714500" y="1380744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연구 목적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714500" y="1638605"/>
            <a:ext cx="1136873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노인 음성 특성에 최적화된 </a:t>
            </a:r>
            <a:r>
              <a:rPr lang="en-US" sz="19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모델 파인튜닝 방법론 정립 및 개선 효과의 정량적 검증</a:t>
            </a:r>
            <a:endParaRPr lang="en-US" sz="1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4595" y="2962656"/>
            <a:ext cx="267005" cy="26700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009851" y="2952598"/>
            <a:ext cx="1848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학술적 기여 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1781251" y="3026664"/>
            <a:ext cx="171907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00354" y="3619195"/>
            <a:ext cx="2857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노인 음성 도메인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적응 전략 제안 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000354" y="4381805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VAD(음성 활동 감지) 임계값 재조정과 2초 이상 불규칙 침묵 허용 등 </a:t>
            </a: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특화 전처리 파이프라인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설계하고 학술적 타당성을 제시함. 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72254" y="2962656"/>
            <a:ext cx="267005" cy="2670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76595" y="2952598"/>
            <a:ext cx="1848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학술적 기여 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5447995" y="3026664"/>
            <a:ext cx="171907" cy="1335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67098" y="3619195"/>
            <a:ext cx="2857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PEFT 적용 효과의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엄밀한 정량 검증 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67098" y="4381805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Whisper 모델에 LoRA를 적용한 파인튜닝 전후 성능(CER, WER)을 통계적 기법(Paired t-test, Bootstrap CI)으로 </a:t>
            </a: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유의수준(p&lt;0.05) 하에서 검증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함. 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 l="-685" r="-685"/>
          <a:stretch/>
        </p:blipFill>
        <p:spPr>
          <a:xfrm>
            <a:off x="8419795" y="2962656"/>
            <a:ext cx="304495" cy="2670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305849" y="2952598"/>
            <a:ext cx="1886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응용적 기여 </a:t>
            </a:r>
            <a:endParaRPr lang="en-US" sz="1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15654" y="3026664"/>
            <a:ext cx="133502" cy="1335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334756" y="3619195"/>
            <a:ext cx="2857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노인 AI 서비스의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기반 기술 제공 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8334756" y="4381805"/>
            <a:ext cx="2857500" cy="1010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구술 생애사 각색(이야기봄 프로젝트) 및 스마트 돌봄·소통 플랫폼이 현장(한국/일본 실증)에서 </a:t>
            </a: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실제로 작동하기 위한 강건한 STT 원천 기술</a:t>
            </a:r>
            <a:r>
              <a:rPr lang="en-US" sz="1200" b="1" dirty="0">
                <a:solidFill>
                  <a:srgbClr val="663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활용됨. 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1429207" y="-1429207"/>
            <a:ext cx="4762195" cy="4762195"/>
          </a:xfrm>
          <a:prstGeom prst="ellipse">
            <a:avLst/>
          </a:prstGeom>
          <a:solidFill>
            <a:srgbClr val="1F4E79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572500" y="3810305"/>
            <a:ext cx="5715000" cy="5715000"/>
          </a:xfrm>
          <a:prstGeom prst="ellipse">
            <a:avLst/>
          </a:prstGeom>
          <a:solidFill>
            <a:srgbClr val="E07B00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476402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761695" y="1143000"/>
            <a:ext cx="5201107" cy="415320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6286500" y="1143000"/>
            <a:ext cx="5201107" cy="4153205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23" r="-23"/>
          <a:stretch/>
        </p:blipFill>
        <p:spPr>
          <a:xfrm>
            <a:off x="761695" y="5477256"/>
            <a:ext cx="10724998" cy="80924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47902" y="1380744"/>
            <a:ext cx="1333195" cy="304495"/>
          </a:xfrm>
          <a:prstGeom prst="roundRect">
            <a:avLst>
              <a:gd name="adj" fmla="val 112613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4858207" y="1380744"/>
            <a:ext cx="847649" cy="286207"/>
          </a:xfrm>
          <a:prstGeom prst="roundRect">
            <a:avLst>
              <a:gd name="adj" fmla="val 298190"/>
            </a:avLst>
          </a:prstGeom>
          <a:solidFill>
            <a:srgbClr val="FFF8F0"/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1047902" y="2809951"/>
            <a:ext cx="4572000" cy="523951"/>
          </a:xfrm>
          <a:prstGeom prst="roundRect">
            <a:avLst>
              <a:gd name="adj" fmla="val 50769"/>
            </a:avLst>
          </a:prstGeom>
          <a:solidFill>
            <a:srgbClr val="FFF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6572707" y="1380744"/>
            <a:ext cx="1333195" cy="304495"/>
          </a:xfrm>
          <a:prstGeom prst="roundRect">
            <a:avLst>
              <a:gd name="adj" fmla="val 112613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10382098" y="1380744"/>
            <a:ext cx="847649" cy="286207"/>
          </a:xfrm>
          <a:prstGeom prst="roundRect">
            <a:avLst>
              <a:gd name="adj" fmla="val 298190"/>
            </a:avLst>
          </a:prstGeom>
          <a:solidFill>
            <a:srgbClr val="1F4E79">
              <a:alpha val="5000"/>
            </a:srgbClr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6572707" y="2809951"/>
            <a:ext cx="4572000" cy="523951"/>
          </a:xfrm>
          <a:prstGeom prst="roundRect">
            <a:avLst>
              <a:gd name="adj" fmla="val 50769"/>
            </a:avLst>
          </a:prstGeom>
          <a:solidFill>
            <a:srgbClr val="1F4E79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2"/>
          <p:cNvSpPr txBox="1"/>
          <p:nvPr/>
        </p:nvSpPr>
        <p:spPr>
          <a:xfrm>
            <a:off x="1000354" y="428854"/>
            <a:ext cx="958748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Research Hypotheses </a:t>
            </a:r>
            <a:r>
              <a:rPr lang="en-US" sz="18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연구가 검증할 두 가지 가설</a:t>
            </a:r>
            <a:endParaRPr lang="en-US" sz="2700" dirty="0"/>
          </a:p>
        </p:txBody>
      </p:sp>
      <p:sp>
        <p:nvSpPr>
          <p:cNvPr id="18" name="Text 13"/>
          <p:cNvSpPr txBox="1"/>
          <p:nvPr/>
        </p:nvSpPr>
        <p:spPr>
          <a:xfrm>
            <a:off x="9059875" y="476402"/>
            <a:ext cx="23710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2. 가설 ⭐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07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284732" y="1442009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H1. 주가설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119726" y="1454810"/>
            <a:ext cx="57881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검증 가능 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4977079" y="1454810"/>
            <a:ext cx="105156" cy="1143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47902" y="1857146"/>
            <a:ext cx="4572000" cy="1162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Whisper-large-v3 모델에 VOTE400 데이터셋으로 </a:t>
            </a:r>
            <a:r>
              <a:rPr lang="en-US" sz="14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기반 PEFT 파인튜닝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적용하면, 노인 음성에서의 </a:t>
            </a:r>
            <a:r>
              <a:rPr lang="en-US" sz="14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CER이 baseline 대비 통계적으로 유의하게(p&lt;0.05) 감소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할 것이다. 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2862072"/>
            <a:ext cx="19815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955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[IF]</a:t>
            </a: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LoRA 파인튜닝 </a:t>
            </a: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(독립변수 X)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23590" y="2976372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314700" y="2862072"/>
            <a:ext cx="222016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[THEN]</a:t>
            </a: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CER 유의 감소 </a:t>
            </a: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(종속변수 Y)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276502" y="3524098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검증 방법 :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Paired t-test (대응표본 t-검정)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276502" y="3813962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목표 효과 :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상대 개선율(Relative Improvement) ≥ 30%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276502" y="4103827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측정 지표 :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CER (E0 Baseline vs E1 비교)</a:t>
            </a:r>
            <a:endParaRPr lang="en-US" sz="12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47902" y="3590849"/>
            <a:ext cx="152705" cy="152705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47902" y="3880714"/>
            <a:ext cx="152705" cy="152705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47902" y="4170578"/>
            <a:ext cx="152705" cy="15270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808622" y="1442009"/>
            <a:ext cx="8631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H2. 부가설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10644530" y="1454810"/>
            <a:ext cx="57881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검증 가능 </a:t>
            </a:r>
            <a:endParaRPr lang="en-US" sz="9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rcRect l="-2571" r="-2571"/>
          <a:stretch/>
        </p:blipFill>
        <p:spPr>
          <a:xfrm>
            <a:off x="10500970" y="1454810"/>
            <a:ext cx="105156" cy="1143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572707" y="1857146"/>
            <a:ext cx="45720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VAD 임계값을 </a:t>
            </a:r>
            <a:r>
              <a:rPr lang="en-US" sz="14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특성(긴 침묵)에 맞게 재조정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하면, H1 모델 단독 적용 시보다 </a:t>
            </a:r>
            <a:r>
              <a:rPr lang="en-US" sz="14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Deletion Error(단어 누락)가 추가적으로 감소</a:t>
            </a: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할 것이다. </a:t>
            </a:r>
            <a:endParaRPr lang="en-US" sz="1400" dirty="0"/>
          </a:p>
        </p:txBody>
      </p:sp>
      <p:sp>
        <p:nvSpPr>
          <p:cNvPr id="36" name="Text 25"/>
          <p:cNvSpPr txBox="1"/>
          <p:nvPr/>
        </p:nvSpPr>
        <p:spPr>
          <a:xfrm>
            <a:off x="6667805" y="2862072"/>
            <a:ext cx="204825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C25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[IF]</a:t>
            </a: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노인용 VAD 적용 </a:t>
            </a: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(독립변수 X)</a:t>
            </a:r>
            <a:endParaRPr lang="en-US" sz="12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713318" y="2976372"/>
            <a:ext cx="190195" cy="190195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8903513" y="2862072"/>
            <a:ext cx="21534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[THEN]</a:t>
            </a: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누락 에러 감소 </a:t>
            </a: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(종속변수 Y)</a:t>
            </a:r>
            <a:endParaRPr lang="en-US" sz="1200" dirty="0"/>
          </a:p>
        </p:txBody>
      </p:sp>
      <p:sp>
        <p:nvSpPr>
          <p:cNvPr id="39" name="Text 27"/>
          <p:cNvSpPr txBox="1"/>
          <p:nvPr/>
        </p:nvSpPr>
        <p:spPr>
          <a:xfrm>
            <a:off x="6801307" y="3524098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검증 방법 :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오류 유형(Error Type) 분해 분석</a:t>
            </a:r>
            <a:endParaRPr lang="en-US" sz="1200" dirty="0"/>
          </a:p>
        </p:txBody>
      </p:sp>
      <p:sp>
        <p:nvSpPr>
          <p:cNvPr id="40" name="Text 28"/>
          <p:cNvSpPr txBox="1"/>
          <p:nvPr/>
        </p:nvSpPr>
        <p:spPr>
          <a:xfrm>
            <a:off x="6801307" y="3813962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측정 지표 :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 / Ins / Sub 비율 (E1 vs E2 비교)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6801307" y="4103827"/>
            <a:ext cx="43434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통계 검증 :</a:t>
            </a: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Bootstrap 95% 신뢰구간(CI) 분석</a:t>
            </a:r>
            <a:endParaRPr lang="en-US" sz="12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rcRect t="-6250" b="-6250"/>
          <a:stretch/>
        </p:blipFill>
        <p:spPr>
          <a:xfrm>
            <a:off x="6572707" y="3590849"/>
            <a:ext cx="152705" cy="152705"/>
          </a:xfrm>
          <a:prstGeom prst="rect">
            <a:avLst/>
          </a:prstGeom>
        </p:spPr>
      </p:pic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4"/>
          <a:srcRect t="-6250" b="-6250"/>
          <a:stretch/>
        </p:blipFill>
        <p:spPr>
          <a:xfrm>
            <a:off x="6572707" y="3880714"/>
            <a:ext cx="152705" cy="152705"/>
          </a:xfrm>
          <a:prstGeom prst="rect">
            <a:avLst/>
          </a:prstGeom>
        </p:spPr>
      </p:pic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5"/>
          <a:srcRect t="-6250" b="-6250"/>
          <a:stretch/>
        </p:blipFill>
        <p:spPr>
          <a:xfrm>
            <a:off x="6572707" y="4170578"/>
            <a:ext cx="152705" cy="152705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1047902" y="5572354"/>
            <a:ext cx="103564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theory which is not refutable by any conceivable event is non-scientific." — Karl Popper, 『The Logic of Scientific Discovery』</a:t>
            </a:r>
            <a:endParaRPr lang="en-US" sz="1000" dirty="0"/>
          </a:p>
        </p:txBody>
      </p:sp>
      <p:sp>
        <p:nvSpPr>
          <p:cNvPr id="46" name="Text 31"/>
          <p:cNvSpPr txBox="1"/>
          <p:nvPr/>
        </p:nvSpPr>
        <p:spPr>
          <a:xfrm>
            <a:off x="1276502" y="5800954"/>
            <a:ext cx="1020470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연구의 가설은 수집될 데이터와 검증된 통계 기법을 통해 </a:t>
            </a:r>
            <a:r>
              <a:rPr lang="en-US" sz="13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반증 가능하도록(Falsifiable) 엄밀하게 설계</a:t>
            </a: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되었습니다. </a:t>
            </a:r>
            <a:endParaRPr lang="en-US" sz="13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6"/>
          <a:srcRect l="-760" r="-760"/>
          <a:stretch/>
        </p:blipFill>
        <p:spPr>
          <a:xfrm>
            <a:off x="1047902" y="5832043"/>
            <a:ext cx="152705" cy="171907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0" y="0"/>
            <a:ext cx="4000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= W₀ + BA 저랭크 분해로 파라미터 업데이트 최소화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76402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1571854"/>
            <a:ext cx="10668305" cy="72420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2286914"/>
            <a:ext cx="10668305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61695" y="2286000"/>
            <a:ext cx="10668305" cy="7242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61695" y="3001061"/>
            <a:ext cx="10668305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61695" y="3000146"/>
            <a:ext cx="10668305" cy="72420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61695" y="3715207"/>
            <a:ext cx="10668305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7" r="-7"/>
          <a:stretch/>
        </p:blipFill>
        <p:spPr>
          <a:xfrm>
            <a:off x="761695" y="3715207"/>
            <a:ext cx="10668305" cy="733349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t="-25" b="-25"/>
          <a:stretch/>
        </p:blipFill>
        <p:spPr>
          <a:xfrm>
            <a:off x="761695" y="1143000"/>
            <a:ext cx="10668305" cy="428854"/>
          </a:xfrm>
          <a:prstGeom prst="rect">
            <a:avLst/>
          </a:prstGeom>
        </p:spPr>
      </p:pic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7" b="-7"/>
          <a:stretch/>
        </p:blipFill>
        <p:spPr>
          <a:xfrm>
            <a:off x="761695" y="4667098"/>
            <a:ext cx="10744200" cy="15718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00354" y="428854"/>
            <a:ext cx="80970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관련 연구 (Related Work) + Research Gap</a:t>
            </a: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9097366" y="476402"/>
            <a:ext cx="2332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3. 방법론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08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1238098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분류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2190902" y="1238098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연구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0" y="1238098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기여 (Contribution)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62695" y="1238098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연구와의 관계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72007" y="1828800"/>
            <a:ext cx="190195" cy="19019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5646" y="1809598"/>
            <a:ext cx="905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기반 모델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2286000" y="1714500"/>
            <a:ext cx="21909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11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(Radford et al., 2023)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667098" y="1809598"/>
            <a:ext cx="4000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다국어 robustness 향상, 68만 시간 대규모 학습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858707" y="1809598"/>
            <a:ext cx="2477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연구의 Baseline 모델</a:t>
            </a:r>
            <a:endParaRPr lang="en-US" sz="11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2007" y="2542946"/>
            <a:ext cx="190195" cy="19019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85646" y="2523744"/>
            <a:ext cx="905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효율적 학습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2286000" y="2428646"/>
            <a:ext cx="21909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</a:t>
            </a:r>
            <a:endParaRPr lang="en-US" sz="11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(Hu et al., 2021)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8858707" y="2523744"/>
            <a:ext cx="2477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연구의 핵심 파인튜닝 기법</a:t>
            </a:r>
            <a:endParaRPr lang="en-US" sz="11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l="-1282" r="-1282"/>
          <a:stretch/>
        </p:blipFill>
        <p:spPr>
          <a:xfrm>
            <a:off x="957377" y="3258007"/>
            <a:ext cx="219456" cy="1901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285646" y="3238805"/>
            <a:ext cx="905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증강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2286000" y="3143707"/>
            <a:ext cx="21909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SpecAugment</a:t>
            </a:r>
            <a:endParaRPr lang="en-US" sz="11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(Park et al., 2019)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667098" y="3238805"/>
            <a:ext cx="4000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스펙트로그램 Time/Frequency 마스킹 (음성 표준 증강법)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8858707" y="3238805"/>
            <a:ext cx="2477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향후 연구의 비교 베이스라인</a:t>
            </a:r>
            <a:endParaRPr lang="en-US" sz="11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7318" y="3972154"/>
            <a:ext cx="237744" cy="19019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285646" y="3952951"/>
            <a:ext cx="10460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STT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2286000" y="3857854"/>
            <a:ext cx="21909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노인 음성 연구</a:t>
            </a:r>
            <a:endParaRPr lang="en-US" sz="11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(다수 문헌)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4667098" y="3952951"/>
            <a:ext cx="4000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영어권 위주 진행, 한국어 노인 특화 모델 및 데이터 부족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8858707" y="3952951"/>
            <a:ext cx="2477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연구가 집중적으로 채우는 공백</a:t>
            </a:r>
            <a:endParaRPr lang="en-US" sz="11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67105" y="4876495"/>
            <a:ext cx="267005" cy="267005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476756" y="4876495"/>
            <a:ext cx="2857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1476756" y="5286146"/>
            <a:ext cx="9715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현재 </a:t>
            </a: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한국어 노인 음성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환경에서 </a:t>
            </a: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 모델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 </a:t>
            </a: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PEFT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그리고 </a:t>
            </a: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특화 VAD</a:t>
            </a:r>
            <a:r>
              <a:rPr lang="en-US" sz="13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종합적으로 결합한 도메인 적응(Domain Adaptation) 연구는 부재한 상태입니다. 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1705356" y="5861304"/>
            <a:ext cx="94869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연구는 이 빈 공간(Gap)을 채우고, 실용적인 노인 STT 파이프라인을 구축하는 첫 시도로 위치합니다. </a:t>
            </a:r>
            <a:endParaRPr lang="en-US" sz="1300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rcRect l="-760" r="-760"/>
          <a:stretch/>
        </p:blipFill>
        <p:spPr>
          <a:xfrm>
            <a:off x="1476756" y="5892394"/>
            <a:ext cx="152705" cy="171907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143000"/>
            <a:ext cx="5162702" cy="972007"/>
          </a:xfrm>
          <a:prstGeom prst="roundRect">
            <a:avLst>
              <a:gd name="adj" fmla="val 22135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2238451"/>
            <a:ext cx="5162702" cy="1257300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61695" y="3619195"/>
            <a:ext cx="5162702" cy="2495398"/>
          </a:xfrm>
          <a:prstGeom prst="roundRect">
            <a:avLst>
              <a:gd name="adj" fmla="val 335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86500" y="1143000"/>
            <a:ext cx="5181905" cy="2371954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blurRad="114300" dist="38100" dir="16200000" algn="bl" rotWithShape="0">
              <a:srgbClr val="1F4E79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286500" y="3619195"/>
            <a:ext cx="5162702" cy="2495398"/>
          </a:xfrm>
          <a:prstGeom prst="roundRect">
            <a:avLst>
              <a:gd name="adj" fmla="val 3357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2072" b="-2072"/>
          <a:stretch/>
        </p:blipFill>
        <p:spPr>
          <a:xfrm>
            <a:off x="2476195" y="2523744"/>
            <a:ext cx="9144" cy="666598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rcRect t="-2072" b="-2072"/>
          <a:stretch/>
        </p:blipFill>
        <p:spPr>
          <a:xfrm>
            <a:off x="4190695" y="2523744"/>
            <a:ext cx="9144" cy="666598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t="-27" b="-27"/>
          <a:stretch/>
        </p:blipFill>
        <p:spPr>
          <a:xfrm>
            <a:off x="6286500" y="1143000"/>
            <a:ext cx="5143500" cy="42885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6695" y="1714500"/>
            <a:ext cx="4762195" cy="619049"/>
          </a:xfrm>
          <a:prstGeom prst="roundRect">
            <a:avLst>
              <a:gd name="adj" fmla="val 3635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t="-14" b="-14"/>
          <a:stretch/>
        </p:blipFill>
        <p:spPr>
          <a:xfrm>
            <a:off x="6476695" y="2428646"/>
            <a:ext cx="4819802" cy="95280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76695" y="4667098"/>
            <a:ext cx="1476756" cy="1324051"/>
          </a:xfrm>
          <a:prstGeom prst="roundRect">
            <a:avLst>
              <a:gd name="adj" fmla="val 5962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6476695" y="4667098"/>
            <a:ext cx="1476756" cy="38405"/>
          </a:xfrm>
          <a:prstGeom prst="roundRect">
            <a:avLst>
              <a:gd name="adj" fmla="val 205549"/>
            </a:avLst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115300" y="4667098"/>
            <a:ext cx="1476756" cy="1324051"/>
          </a:xfrm>
          <a:prstGeom prst="roundRect">
            <a:avLst>
              <a:gd name="adj" fmla="val 5962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8115300" y="4667098"/>
            <a:ext cx="1476756" cy="38405"/>
          </a:xfrm>
          <a:prstGeom prst="roundRect">
            <a:avLst>
              <a:gd name="adj" fmla="val 205549"/>
            </a:avLst>
          </a:prstGeom>
          <a:solidFill>
            <a:srgbClr val="E07B00"/>
          </a:solidFill>
          <a:ln w="12700">
            <a:solidFill>
              <a:srgbClr val="E07B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9763049" y="4667098"/>
            <a:ext cx="1476756" cy="1324051"/>
          </a:xfrm>
          <a:prstGeom prst="roundRect">
            <a:avLst>
              <a:gd name="adj" fmla="val 5962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9763049" y="4667098"/>
            <a:ext cx="1476756" cy="38405"/>
          </a:xfrm>
          <a:prstGeom prst="roundRect">
            <a:avLst>
              <a:gd name="adj" fmla="val 205549"/>
            </a:avLst>
          </a:prstGeom>
          <a:solidFill>
            <a:srgbClr val="888888"/>
          </a:solidFill>
          <a:ln w="12700">
            <a:solidFill>
              <a:srgbClr val="8888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1000354" y="428854"/>
            <a:ext cx="848197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데이터셋: VOTE400 — 한국어 고령자 음성 코퍼스</a:t>
            </a:r>
            <a:endParaRPr lang="en-US" sz="2700" dirty="0"/>
          </a:p>
        </p:txBody>
      </p:sp>
      <p:sp>
        <p:nvSpPr>
          <p:cNvPr id="23" name="Text 17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3. 방법론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09</a:t>
            </a:r>
            <a:endParaRPr lang="en-US" sz="12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l="-881" r="-881"/>
          <a:stretch/>
        </p:blipFill>
        <p:spPr>
          <a:xfrm>
            <a:off x="1024128" y="1390802"/>
            <a:ext cx="237744" cy="2670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6756" y="1285646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출처: AI허브 (한국지능정보사회진흥원, NIA)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476756" y="1552651"/>
            <a:ext cx="4286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구축: ETRI · 마인즈랩 공동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705356" y="1819656"/>
            <a:ext cx="4058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공공데이터 활용 가이드라인 준수 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552651" y="1871777"/>
            <a:ext cx="114300" cy="1143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13816" y="2381098"/>
            <a:ext cx="16111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400</a:t>
            </a: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시간+</a:t>
            </a:r>
            <a:endParaRPr lang="en-US" sz="2400" dirty="0"/>
          </a:p>
        </p:txBody>
      </p:sp>
      <p:sp>
        <p:nvSpPr>
          <p:cNvPr id="30" name="Text 22"/>
          <p:cNvSpPr txBox="1"/>
          <p:nvPr/>
        </p:nvSpPr>
        <p:spPr>
          <a:xfrm>
            <a:off x="857707" y="2792578"/>
            <a:ext cx="1524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총 음성 분량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2490826" y="2381098"/>
            <a:ext cx="1686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3,000</a:t>
            </a: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명+</a:t>
            </a:r>
            <a:endParaRPr lang="en-US" sz="2400" dirty="0"/>
          </a:p>
        </p:txBody>
      </p:sp>
      <p:sp>
        <p:nvSpPr>
          <p:cNvPr id="32" name="Text 24"/>
          <p:cNvSpPr txBox="1"/>
          <p:nvPr/>
        </p:nvSpPr>
        <p:spPr>
          <a:xfrm>
            <a:off x="2572207" y="2792578"/>
            <a:ext cx="1524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고령 화자 수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4186123" y="2381098"/>
            <a:ext cx="17245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65</a:t>
            </a:r>
            <a:r>
              <a:rPr lang="en-US" sz="15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 이상</a:t>
            </a:r>
            <a:endParaRPr lang="en-US" sz="2400" dirty="0"/>
          </a:p>
        </p:txBody>
      </p:sp>
      <p:sp>
        <p:nvSpPr>
          <p:cNvPr id="34" name="Text 26"/>
          <p:cNvSpPr txBox="1"/>
          <p:nvPr/>
        </p:nvSpPr>
        <p:spPr>
          <a:xfrm>
            <a:off x="4286707" y="2792578"/>
            <a:ext cx="1524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대상 연령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952805" y="3762756"/>
            <a:ext cx="1905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발화 스타일 구성</a:t>
            </a:r>
            <a:endParaRPr lang="en-US" sz="130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rcRect l="-8" r="-8"/>
          <a:stretch/>
        </p:blipFill>
        <p:spPr>
          <a:xfrm>
            <a:off x="761695" y="4095598"/>
            <a:ext cx="5143500" cy="190469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724498" y="1238098"/>
            <a:ext cx="260969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분할 계획 </a:t>
            </a:r>
            <a:endParaRPr lang="en-US" sz="13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76695" y="1288390"/>
            <a:ext cx="171907" cy="171907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615684" y="1800454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6615684" y="2000707"/>
            <a:ext cx="13716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16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0"/>
          <a:srcRect t="-2165" b="-2165"/>
          <a:stretch/>
        </p:blipFill>
        <p:spPr>
          <a:xfrm>
            <a:off x="8075066" y="1880921"/>
            <a:ext cx="9144" cy="286207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8172907" y="1800454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43" name="Text 32"/>
          <p:cNvSpPr txBox="1"/>
          <p:nvPr/>
        </p:nvSpPr>
        <p:spPr>
          <a:xfrm>
            <a:off x="8172907" y="2000707"/>
            <a:ext cx="13716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6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rcRect t="-2165" b="-2165"/>
          <a:stretch/>
        </p:blipFill>
        <p:spPr>
          <a:xfrm>
            <a:off x="9631375" y="1880921"/>
            <a:ext cx="9144" cy="286207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9728302" y="1800454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</a:t>
            </a:r>
            <a:endParaRPr lang="en-US" sz="1000" dirty="0"/>
          </a:p>
        </p:txBody>
      </p:sp>
      <p:sp>
        <p:nvSpPr>
          <p:cNvPr id="46" name="Text 34"/>
          <p:cNvSpPr txBox="1"/>
          <p:nvPr/>
        </p:nvSpPr>
        <p:spPr>
          <a:xfrm>
            <a:off x="9728302" y="2000707"/>
            <a:ext cx="13716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1600" dirty="0"/>
          </a:p>
        </p:txBody>
      </p:sp>
      <p:sp>
        <p:nvSpPr>
          <p:cNvPr id="47" name="Text 35"/>
          <p:cNvSpPr txBox="1"/>
          <p:nvPr/>
        </p:nvSpPr>
        <p:spPr>
          <a:xfrm>
            <a:off x="6896405" y="2523744"/>
            <a:ext cx="415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화자 단위 분할 (Speaker-disjoint Split) 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6667805" y="2809951"/>
            <a:ext cx="4381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 화자가 Train과 Test 셋에 동시에 등장하지 않도록 분할하여, 화자 특성에 대한 Data Leakage를 방지하고 일반화 성능을 평가함.</a:t>
            </a:r>
            <a:endParaRPr lang="en-US" sz="10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1"/>
          <a:srcRect l="-33" r="-33"/>
          <a:stretch/>
        </p:blipFill>
        <p:spPr>
          <a:xfrm>
            <a:off x="6667805" y="2572207"/>
            <a:ext cx="171907" cy="152705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6743700" y="3762756"/>
            <a:ext cx="430499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화자 그룹 계층화 (Stratified Sampling) </a:t>
            </a:r>
            <a:endParaRPr lang="en-US" sz="1300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rcRect t="-842" b="-842"/>
          <a:stretch/>
        </p:blipFill>
        <p:spPr>
          <a:xfrm>
            <a:off x="6476695" y="3812134"/>
            <a:ext cx="190195" cy="171907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6476695" y="4095598"/>
            <a:ext cx="47631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발화 특성에 따른 그룹별 CER 편차를 분석하기 위해(Subgroup Analysis), 테스트 셋을 다음과 같이 계층화하여 구성함.</a:t>
            </a:r>
            <a:endParaRPr lang="en-US" sz="1000" dirty="0"/>
          </a:p>
        </p:txBody>
      </p:sp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601054" y="4839005"/>
            <a:ext cx="171907" cy="171907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858000" y="4839005"/>
            <a:ext cx="952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정상 발화군</a:t>
            </a:r>
            <a:endParaRPr lang="en-US" sz="1100" dirty="0"/>
          </a:p>
        </p:txBody>
      </p:sp>
      <p:sp>
        <p:nvSpPr>
          <p:cNvPr id="55" name="Text 40"/>
          <p:cNvSpPr txBox="1"/>
          <p:nvPr/>
        </p:nvSpPr>
        <p:spPr>
          <a:xfrm>
            <a:off x="6572707" y="5143500"/>
            <a:ext cx="128656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특이 장애나 노화로 인한 심한 발음 왜곡이 없는 그룹 (약 80%)</a:t>
            </a:r>
            <a:endParaRPr lang="en-US" sz="90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4"/>
          <a:srcRect l="-1064" r="-1064"/>
          <a:stretch/>
        </p:blipFill>
        <p:spPr>
          <a:xfrm>
            <a:off x="8214970" y="4839005"/>
            <a:ext cx="219456" cy="171907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8496605" y="4839005"/>
            <a:ext cx="952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구음 장애군</a:t>
            </a:r>
            <a:endParaRPr lang="en-US" sz="1100" dirty="0"/>
          </a:p>
        </p:txBody>
      </p:sp>
      <p:sp>
        <p:nvSpPr>
          <p:cNvPr id="58" name="Text 42"/>
          <p:cNvSpPr txBox="1"/>
          <p:nvPr/>
        </p:nvSpPr>
        <p:spPr>
          <a:xfrm>
            <a:off x="8210398" y="5143500"/>
            <a:ext cx="128656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틀니 착용, 조음 기관 약화로 발음 왜곡이 식별되는 그룹 (약 15%)</a:t>
            </a:r>
            <a:endParaRPr lang="en-US" sz="900" dirty="0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887407" y="4839005"/>
            <a:ext cx="171907" cy="171907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10144354" y="4839005"/>
            <a:ext cx="1047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초고령 (80+)</a:t>
            </a:r>
            <a:endParaRPr lang="en-US" sz="1100" dirty="0"/>
          </a:p>
        </p:txBody>
      </p:sp>
      <p:sp>
        <p:nvSpPr>
          <p:cNvPr id="61" name="Text 44"/>
          <p:cNvSpPr txBox="1"/>
          <p:nvPr/>
        </p:nvSpPr>
        <p:spPr>
          <a:xfrm>
            <a:off x="9858146" y="5143500"/>
            <a:ext cx="128656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 심한 노화 특성(극단적 느린 발화, 긴 침묵)이 예상되는 군 (약 5%)</a:t>
            </a:r>
            <a:endParaRPr lang="en-US" sz="900" dirty="0"/>
          </a:p>
        </p:txBody>
      </p:sp>
      <p:sp>
        <p:nvSpPr>
          <p:cNvPr id="62" name="Text 45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4762195"/>
            <a:ext cx="10687507" cy="1257300"/>
          </a:xfrm>
          <a:prstGeom prst="roundRect">
            <a:avLst>
              <a:gd name="adj" fmla="val 13223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2095805"/>
            <a:ext cx="1276502" cy="1561795"/>
          </a:xfrm>
          <a:prstGeom prst="roundRect">
            <a:avLst>
              <a:gd name="adj" fmla="val 8553"/>
            </a:avLst>
          </a:prstGeom>
          <a:solidFill>
            <a:srgbClr val="1F4E79">
              <a:alpha val="5000"/>
            </a:srgbClr>
          </a:solidFill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095805" y="1714500"/>
            <a:ext cx="1752905" cy="2514600"/>
          </a:xfrm>
          <a:prstGeom prst="roundRect">
            <a:avLst>
              <a:gd name="adj" fmla="val 4536"/>
            </a:avLst>
          </a:prstGeom>
          <a:solidFill>
            <a:srgbClr val="F8F9FA"/>
          </a:solidFill>
          <a:ln w="254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095598" y="1714500"/>
            <a:ext cx="1752905" cy="2514600"/>
          </a:xfrm>
          <a:prstGeom prst="roundRect">
            <a:avLst>
              <a:gd name="adj" fmla="val 4536"/>
            </a:avLst>
          </a:prstGeom>
          <a:solidFill>
            <a:srgbClr val="1F4E79">
              <a:alpha val="5000"/>
            </a:srgbClr>
          </a:solidFill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096305" y="1524305"/>
            <a:ext cx="2057400" cy="2819095"/>
          </a:xfrm>
          <a:prstGeom prst="roundRect">
            <a:avLst>
              <a:gd name="adj" fmla="val 4938"/>
            </a:avLst>
          </a:prstGeom>
          <a:solidFill>
            <a:srgbClr val="FFF8F0"/>
          </a:solidFill>
          <a:ln w="38100">
            <a:solidFill>
              <a:srgbClr val="E07B00"/>
            </a:solidFill>
            <a:prstDash val="solid"/>
          </a:ln>
          <a:effectLst>
            <a:outerShdw blurRad="114300" dist="38100" dir="16200000" algn="bl" rotWithShape="0">
              <a:srgbClr val="E07B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477402" y="1714500"/>
            <a:ext cx="1752905" cy="2514600"/>
          </a:xfrm>
          <a:prstGeom prst="roundRect">
            <a:avLst>
              <a:gd name="adj" fmla="val 4536"/>
            </a:avLst>
          </a:prstGeom>
          <a:solidFill>
            <a:srgbClr val="1F4E79">
              <a:alpha val="5000"/>
            </a:srgbClr>
          </a:solidFill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573207" y="2095805"/>
            <a:ext cx="1276502" cy="1561795"/>
          </a:xfrm>
          <a:prstGeom prst="roundRect">
            <a:avLst>
              <a:gd name="adj" fmla="val 8553"/>
            </a:avLst>
          </a:prstGeom>
          <a:solidFill>
            <a:srgbClr val="1F4E79">
              <a:alpha val="5000"/>
            </a:srgbClr>
          </a:solidFill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47902" y="533369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00500" y="5333695"/>
            <a:ext cx="228600" cy="228600"/>
          </a:xfrm>
          <a:prstGeom prst="roundRect">
            <a:avLst>
              <a:gd name="adj" fmla="val 133333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373" r="-373"/>
          <a:stretch/>
        </p:blipFill>
        <p:spPr>
          <a:xfrm>
            <a:off x="6858000" y="4953305"/>
            <a:ext cx="19202" cy="857707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572207" y="3810305"/>
            <a:ext cx="761695" cy="228600"/>
          </a:xfrm>
          <a:prstGeom prst="roundRect">
            <a:avLst>
              <a:gd name="adj" fmla="val 400000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572000" y="3810305"/>
            <a:ext cx="761695" cy="228600"/>
          </a:xfrm>
          <a:prstGeom prst="roundRect">
            <a:avLst>
              <a:gd name="adj" fmla="val 400000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620256" y="3905402"/>
            <a:ext cx="952805" cy="247802"/>
          </a:xfrm>
          <a:prstGeom prst="roundRect">
            <a:avLst>
              <a:gd name="adj" fmla="val 369004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953805" y="3810305"/>
            <a:ext cx="761695" cy="228600"/>
          </a:xfrm>
          <a:prstGeom prst="roundRect">
            <a:avLst>
              <a:gd name="adj" fmla="val 400000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000354" y="428854"/>
            <a:ext cx="80970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제안 방법론 — 전체 파이프라인 흐름도</a:t>
            </a:r>
            <a:endParaRPr lang="en-US" sz="2700" dirty="0"/>
          </a:p>
        </p:txBody>
      </p:sp>
      <p:sp>
        <p:nvSpPr>
          <p:cNvPr id="21" name="Text 18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3. 방법론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10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-50" r="-50"/>
          <a:stretch/>
        </p:blipFill>
        <p:spPr>
          <a:xfrm>
            <a:off x="1076249" y="2324405"/>
            <a:ext cx="228600" cy="30449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19049" y="2762402"/>
            <a:ext cx="1143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원음성 입력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619049" y="3047695"/>
            <a:ext cx="1143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발화 오디오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(16kHz)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1890979" y="2762402"/>
            <a:ext cx="123444" cy="190195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800807" y="1943100"/>
            <a:ext cx="30449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2190902" y="2381098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전처리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2190902" y="2667305"/>
            <a:ext cx="1524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VAD 임계값 재조정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침묵 2초 허용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화자 분리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2698394" y="3847795"/>
            <a:ext cx="62636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가공</a:t>
            </a:r>
            <a:endParaRPr lang="en-US" sz="8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3890772" y="2762402"/>
            <a:ext cx="123444" cy="190195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4762195" y="1943100"/>
            <a:ext cx="381305" cy="30449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071823" y="2381098"/>
            <a:ext cx="17620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Whisper Encoder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4190695" y="2667305"/>
            <a:ext cx="1524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Mel-spectrogram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특징 추출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4671670" y="3847795"/>
            <a:ext cx="7488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고정</a:t>
            </a:r>
            <a:endParaRPr lang="en-US" sz="8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rcRect l="-1923" r="-1923"/>
          <a:stretch/>
        </p:blipFill>
        <p:spPr>
          <a:xfrm>
            <a:off x="5891479" y="2762402"/>
            <a:ext cx="123444" cy="190195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6967728" y="1828800"/>
            <a:ext cx="256946" cy="3429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238951" y="2286000"/>
            <a:ext cx="1714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LoRA Adapter</a:t>
            </a:r>
            <a:endParaRPr lang="en-US" sz="1300" dirty="0"/>
          </a:p>
        </p:txBody>
      </p:sp>
      <p:sp>
        <p:nvSpPr>
          <p:cNvPr id="38" name="Text 28"/>
          <p:cNvSpPr txBox="1"/>
          <p:nvPr/>
        </p:nvSpPr>
        <p:spPr>
          <a:xfrm>
            <a:off x="6238951" y="2619756"/>
            <a:ext cx="17145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도메인 지식 학습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33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= W₀ + BA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6717182" y="3948379"/>
            <a:ext cx="104973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Trainable 학습</a:t>
            </a:r>
            <a:endParaRPr lang="en-US" sz="90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rcRect l="-1923" r="-1923"/>
          <a:stretch/>
        </p:blipFill>
        <p:spPr>
          <a:xfrm>
            <a:off x="8225028" y="2762402"/>
            <a:ext cx="123444" cy="190195"/>
          </a:xfrm>
          <a:prstGeom prst="rect">
            <a:avLst/>
          </a:prstGeom>
        </p:spPr>
      </p:pic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0"/>
          <a:srcRect l="-90" r="-90"/>
          <a:stretch/>
        </p:blipFill>
        <p:spPr>
          <a:xfrm>
            <a:off x="9144000" y="1943100"/>
            <a:ext cx="381305" cy="304495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8453628" y="2381098"/>
            <a:ext cx="17620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Whisper Decoder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8572500" y="2762402"/>
            <a:ext cx="15243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토큰 예측 및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문장 생성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9052560" y="3847795"/>
            <a:ext cx="7488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 고정</a:t>
            </a:r>
            <a:endParaRPr lang="en-US" sz="8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5"/>
          <a:srcRect l="-1923" r="-1923"/>
          <a:stretch/>
        </p:blipFill>
        <p:spPr>
          <a:xfrm>
            <a:off x="10319918" y="2762402"/>
            <a:ext cx="123444" cy="190195"/>
          </a:xfrm>
          <a:prstGeom prst="rect">
            <a:avLst/>
          </a:prstGeom>
        </p:spPr>
      </p:pic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1"/>
          <a:srcRect l="-107" r="-107"/>
          <a:stretch/>
        </p:blipFill>
        <p:spPr>
          <a:xfrm>
            <a:off x="11058754" y="2324405"/>
            <a:ext cx="267005" cy="304495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10620756" y="276240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텍스트</a:t>
            </a:r>
            <a:endParaRPr lang="en-US" sz="1200" dirty="0"/>
          </a:p>
        </p:txBody>
      </p:sp>
      <p:sp>
        <p:nvSpPr>
          <p:cNvPr id="48" name="Text 34"/>
          <p:cNvSpPr txBox="1"/>
          <p:nvPr/>
        </p:nvSpPr>
        <p:spPr>
          <a:xfrm>
            <a:off x="10620756" y="3047695"/>
            <a:ext cx="1143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STT 결과</a:t>
            </a:r>
            <a:endParaRPr lang="en-US" sz="900" dirty="0"/>
          </a:p>
        </p:txBody>
      </p:sp>
      <p:sp>
        <p:nvSpPr>
          <p:cNvPr id="49" name="Text 35"/>
          <p:cNvSpPr txBox="1"/>
          <p:nvPr/>
        </p:nvSpPr>
        <p:spPr>
          <a:xfrm>
            <a:off x="1047902" y="4953305"/>
            <a:ext cx="14292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파라미터 상태</a:t>
            </a:r>
            <a:endParaRPr lang="en-US" sz="1300" dirty="0"/>
          </a:p>
        </p:txBody>
      </p:sp>
      <p:sp>
        <p:nvSpPr>
          <p:cNvPr id="50" name="Text 36"/>
          <p:cNvSpPr txBox="1"/>
          <p:nvPr/>
        </p:nvSpPr>
        <p:spPr>
          <a:xfrm>
            <a:off x="1380744" y="5352898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가능 파라미터 (LoRA만)</a:t>
            </a:r>
            <a:endParaRPr lang="en-US" sz="1000" dirty="0"/>
          </a:p>
        </p:txBody>
      </p:sp>
      <p:sp>
        <p:nvSpPr>
          <p:cNvPr id="51" name="Text 37"/>
          <p:cNvSpPr txBox="1"/>
          <p:nvPr/>
        </p:nvSpPr>
        <p:spPr>
          <a:xfrm>
            <a:off x="1380744" y="5572354"/>
            <a:ext cx="2382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파라미터의 ~0.5%</a:t>
            </a:r>
            <a:endParaRPr lang="en-US" sz="900" dirty="0"/>
          </a:p>
        </p:txBody>
      </p:sp>
      <p:sp>
        <p:nvSpPr>
          <p:cNvPr id="52" name="Text 38"/>
          <p:cNvSpPr txBox="1"/>
          <p:nvPr/>
        </p:nvSpPr>
        <p:spPr>
          <a:xfrm>
            <a:off x="4334256" y="5352898"/>
            <a:ext cx="2382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고정 파라미터 (Encoder+Decoder)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4334256" y="5572354"/>
            <a:ext cx="2382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파라미터의 ~99.5%</a:t>
            </a:r>
            <a:endParaRPr lang="en-US" sz="9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7105802" y="5029200"/>
            <a:ext cx="171907" cy="228600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7429500" y="5048402"/>
            <a:ext cx="3810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거대 모델은 그대로 두고, 적은 양의 어댑터만 학습</a:t>
            </a:r>
            <a:endParaRPr lang="en-US" sz="1100" dirty="0"/>
          </a:p>
        </p:txBody>
      </p:sp>
      <p:sp>
        <p:nvSpPr>
          <p:cNvPr id="56" name="Text 41"/>
          <p:cNvSpPr txBox="1"/>
          <p:nvPr/>
        </p:nvSpPr>
        <p:spPr>
          <a:xfrm>
            <a:off x="7429500" y="5305349"/>
            <a:ext cx="38103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GPU 메모리 자원을 절약하고, 도메인 데이터가 적더라도 모델의 과적합(Overfitting)을 방지함.</a:t>
            </a:r>
            <a:endParaRPr lang="en-US" sz="1000" dirty="0"/>
          </a:p>
        </p:txBody>
      </p:sp>
      <p:sp>
        <p:nvSpPr>
          <p:cNvPr id="57" name="Text 42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761695" y="476402"/>
            <a:ext cx="75895" cy="571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80744"/>
            <a:ext cx="10687507" cy="780898"/>
          </a:xfrm>
          <a:prstGeom prst="roundRect">
            <a:avLst>
              <a:gd name="adj" fmla="val 34272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2286000"/>
            <a:ext cx="3372307" cy="3181198"/>
          </a:xfrm>
          <a:prstGeom prst="roundRect">
            <a:avLst>
              <a:gd name="adj" fmla="val 2065"/>
            </a:avLst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blurRad="114300" dist="38100" dir="16200000" algn="bl" rotWithShape="0">
              <a:srgbClr val="1F4E79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429354" y="2286000"/>
            <a:ext cx="3353105" cy="3161995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096098" y="2286000"/>
            <a:ext cx="3353105" cy="3161995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2100" b="-2100"/>
          <a:stretch/>
        </p:blipFill>
        <p:spPr>
          <a:xfrm>
            <a:off x="4286707" y="1524305"/>
            <a:ext cx="9144" cy="47640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t="-2100" b="-2100"/>
          <a:stretch/>
        </p:blipFill>
        <p:spPr>
          <a:xfrm>
            <a:off x="7715707" y="1524305"/>
            <a:ext cx="9144" cy="47640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52805" y="2857500"/>
            <a:ext cx="2190902" cy="247802"/>
          </a:xfrm>
          <a:prstGeom prst="roundRect">
            <a:avLst>
              <a:gd name="adj" fmla="val 113540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rcRect t="-5" b="-5"/>
          <a:stretch/>
        </p:blipFill>
        <p:spPr>
          <a:xfrm>
            <a:off x="952805" y="3238805"/>
            <a:ext cx="2991002" cy="104790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19549" y="2857500"/>
            <a:ext cx="2190902" cy="247802"/>
          </a:xfrm>
          <a:prstGeom prst="roundRect">
            <a:avLst>
              <a:gd name="adj" fmla="val 113540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4619549" y="3238805"/>
            <a:ext cx="2991002" cy="1095451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87207" y="2857500"/>
            <a:ext cx="2190902" cy="247802"/>
          </a:xfrm>
          <a:prstGeom prst="roundRect">
            <a:avLst>
              <a:gd name="adj" fmla="val 113540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8287207" y="3238805"/>
            <a:ext cx="2991002" cy="1095451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rcRect l="-15" r="-15"/>
          <a:stretch/>
        </p:blipFill>
        <p:spPr>
          <a:xfrm>
            <a:off x="761695" y="5572353"/>
            <a:ext cx="10724998" cy="80741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000354" y="428854"/>
            <a:ext cx="809701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세부 기술 1 — 전처리 파이프라인 (Elderly-aware Preprocessing)</a:t>
            </a:r>
            <a:endParaRPr lang="en-US" sz="2700" dirty="0"/>
          </a:p>
        </p:txBody>
      </p:sp>
      <p:sp>
        <p:nvSpPr>
          <p:cNvPr id="20" name="Text 11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3. 방법론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11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952805" y="1447495"/>
            <a:ext cx="2104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특성 → 전처리 전략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1143000" y="1714500"/>
            <a:ext cx="6007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느린 발화</a:t>
            </a:r>
            <a:endParaRPr lang="en-US" sz="12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65960" y="1781251"/>
            <a:ext cx="152705" cy="15270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2342693" y="1714500"/>
            <a:ext cx="16669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Silence Threshold 완화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4572000" y="1714500"/>
            <a:ext cx="4672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긴 침묵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450738" y="1781251"/>
            <a:ext cx="152705" cy="15270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023153" y="1714500"/>
            <a:ext cx="1410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침묵 감지 및 패딩 정책</a:t>
            </a:r>
            <a:endParaRPr lang="en-US" sz="1200" dirty="0"/>
          </a:p>
        </p:txBody>
      </p:sp>
      <p:sp>
        <p:nvSpPr>
          <p:cNvPr id="28" name="Text 17"/>
          <p:cNvSpPr txBox="1"/>
          <p:nvPr/>
        </p:nvSpPr>
        <p:spPr>
          <a:xfrm>
            <a:off x="8001000" y="1666951"/>
            <a:ext cx="9144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다중 화자 혼재</a:t>
            </a:r>
            <a:endParaRPr lang="en-US" sz="12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056218" y="1781251"/>
            <a:ext cx="152705" cy="15270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9351569" y="1666951"/>
            <a:ext cx="151516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화자 분리(Diarization)</a:t>
            </a:r>
            <a:endParaRPr lang="en-US" sz="1200" dirty="0"/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9"/>
          <a:srcRect t="-12500" b="-12500"/>
          <a:stretch/>
        </p:blipFill>
        <p:spPr>
          <a:xfrm>
            <a:off x="990295" y="2514600"/>
            <a:ext cx="228600" cy="2286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1380744" y="2476195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VAD 모듈</a:t>
            </a:r>
            <a:endParaRPr lang="en-US" sz="1500" dirty="0"/>
          </a:p>
        </p:txBody>
      </p:sp>
      <p:sp>
        <p:nvSpPr>
          <p:cNvPr id="33" name="Text 20"/>
          <p:cNvSpPr txBox="1"/>
          <p:nvPr/>
        </p:nvSpPr>
        <p:spPr>
          <a:xfrm>
            <a:off x="952805" y="2900477"/>
            <a:ext cx="193852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도구: TF Lite 기반 (온디바이스)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1095451" y="3286354"/>
            <a:ext cx="2714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 노인용 silence threshold 재튜닝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1266444" y="3552444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기존:</a:t>
            </a: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0.5초 무음 → 발화 종료 판단</a:t>
            </a:r>
            <a:endParaRPr lang="en-US" sz="900" dirty="0"/>
          </a:p>
        </p:txBody>
      </p:sp>
      <p:sp>
        <p:nvSpPr>
          <p:cNvPr id="36" name="Text 23"/>
          <p:cNvSpPr txBox="1"/>
          <p:nvPr/>
        </p:nvSpPr>
        <p:spPr>
          <a:xfrm>
            <a:off x="1266444" y="3738982"/>
            <a:ext cx="2543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노인:</a:t>
            </a: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2초+ 무음도 같은 발화 내 유지</a:t>
            </a:r>
            <a:endParaRPr lang="en-US" sz="900" dirty="0"/>
          </a:p>
        </p:txBody>
      </p:sp>
      <p:sp>
        <p:nvSpPr>
          <p:cNvPr id="37" name="Text 24"/>
          <p:cNvSpPr txBox="1"/>
          <p:nvPr/>
        </p:nvSpPr>
        <p:spPr>
          <a:xfrm>
            <a:off x="1143000" y="4476902"/>
            <a:ext cx="2763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38" name="Text 25"/>
          <p:cNvSpPr txBox="1"/>
          <p:nvPr/>
        </p:nvSpPr>
        <p:spPr>
          <a:xfrm>
            <a:off x="952805" y="4705502"/>
            <a:ext cx="2953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문장이 중간에 잘려 발생하는 Deletion Error의 극적인 감소</a:t>
            </a:r>
            <a:endParaRPr lang="en-US" sz="9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52805" y="4512564"/>
            <a:ext cx="133502" cy="133502"/>
          </a:xfrm>
          <a:prstGeom prst="rect">
            <a:avLst/>
          </a:prstGeom>
        </p:spPr>
      </p:pic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1"/>
          <a:srcRect l="-30000" r="-30000"/>
          <a:stretch/>
        </p:blipFill>
        <p:spPr>
          <a:xfrm>
            <a:off x="4657954" y="2514600"/>
            <a:ext cx="228600" cy="22860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5048402" y="2476195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침묵 감지 정책</a:t>
            </a:r>
            <a:endParaRPr lang="en-US" sz="1500" dirty="0"/>
          </a:p>
        </p:txBody>
      </p:sp>
      <p:sp>
        <p:nvSpPr>
          <p:cNvPr id="42" name="Text 27"/>
          <p:cNvSpPr txBox="1"/>
          <p:nvPr/>
        </p:nvSpPr>
        <p:spPr>
          <a:xfrm>
            <a:off x="4619549" y="2900477"/>
            <a:ext cx="192755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정책: 발화 내 휴지(Pause) 인식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4762195" y="3286354"/>
            <a:ext cx="2714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침묵 유지 및 패딩</a:t>
            </a:r>
            <a:endParaRPr lang="en-US" sz="1000" dirty="0"/>
          </a:p>
        </p:txBody>
      </p:sp>
      <p:sp>
        <p:nvSpPr>
          <p:cNvPr id="44" name="Text 29"/>
          <p:cNvSpPr txBox="1"/>
          <p:nvPr/>
        </p:nvSpPr>
        <p:spPr>
          <a:xfrm>
            <a:off x="4934102" y="3552444"/>
            <a:ext cx="2543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2초 이상의 무음을 "문장 종료"가 아닌 "발화 내 휴지"로 처리</a:t>
            </a:r>
            <a:endParaRPr lang="en-US" sz="900" dirty="0"/>
          </a:p>
        </p:txBody>
      </p:sp>
      <p:sp>
        <p:nvSpPr>
          <p:cNvPr id="45" name="Text 30"/>
          <p:cNvSpPr txBox="1"/>
          <p:nvPr/>
        </p:nvSpPr>
        <p:spPr>
          <a:xfrm>
            <a:off x="4934102" y="3924605"/>
            <a:ext cx="2543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Silence Padding을 추가하여 앞뒤 음성 컨텍스트 보존</a:t>
            </a:r>
            <a:endParaRPr lang="en-US" sz="900" dirty="0"/>
          </a:p>
        </p:txBody>
      </p:sp>
      <p:sp>
        <p:nvSpPr>
          <p:cNvPr id="46" name="Text 31"/>
          <p:cNvSpPr txBox="1"/>
          <p:nvPr/>
        </p:nvSpPr>
        <p:spPr>
          <a:xfrm>
            <a:off x="4809744" y="4476902"/>
            <a:ext cx="2763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47" name="Text 32"/>
          <p:cNvSpPr txBox="1"/>
          <p:nvPr/>
        </p:nvSpPr>
        <p:spPr>
          <a:xfrm>
            <a:off x="4619549" y="4705502"/>
            <a:ext cx="2953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특유의 긴 숨고르기나 휴지 구간으로 인한 문맥 단절 방지</a:t>
            </a:r>
            <a:endParaRPr lang="en-US" sz="900" dirty="0"/>
          </a:p>
        </p:txBody>
      </p:sp>
      <p:pic>
        <p:nvPicPr>
          <p:cNvPr id="48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19549" y="4512564"/>
            <a:ext cx="133502" cy="133502"/>
          </a:xfrm>
          <a:prstGeom prst="rect">
            <a:avLst/>
          </a:prstGeom>
        </p:spPr>
      </p:pic>
      <p:pic>
        <p:nvPicPr>
          <p:cNvPr id="49" name="Image 14" descr="preencoded.png"/>
          <p:cNvPicPr>
            <a:picLocks noChangeAspect="1"/>
          </p:cNvPicPr>
          <p:nvPr/>
        </p:nvPicPr>
        <p:blipFill>
          <a:blip r:embed="rId13"/>
          <a:srcRect t="-12500" b="-12500"/>
          <a:stretch/>
        </p:blipFill>
        <p:spPr>
          <a:xfrm>
            <a:off x="8324698" y="2514600"/>
            <a:ext cx="228600" cy="228600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715146" y="2476195"/>
            <a:ext cx="24771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화자 분리</a:t>
            </a:r>
            <a:endParaRPr lang="en-US" sz="1500" dirty="0"/>
          </a:p>
        </p:txBody>
      </p:sp>
      <p:sp>
        <p:nvSpPr>
          <p:cNvPr id="51" name="Text 34"/>
          <p:cNvSpPr txBox="1"/>
          <p:nvPr/>
        </p:nvSpPr>
        <p:spPr>
          <a:xfrm>
            <a:off x="8287207" y="2900477"/>
            <a:ext cx="1718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도구: pyannote.audio 적용</a:t>
            </a:r>
            <a:endParaRPr lang="en-US" sz="900" dirty="0"/>
          </a:p>
        </p:txBody>
      </p:sp>
      <p:sp>
        <p:nvSpPr>
          <p:cNvPr id="52" name="Text 35"/>
          <p:cNvSpPr txBox="1"/>
          <p:nvPr/>
        </p:nvSpPr>
        <p:spPr>
          <a:xfrm>
            <a:off x="8429854" y="3286354"/>
            <a:ext cx="2714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다중 화자 환경 대응</a:t>
            </a:r>
            <a:endParaRPr lang="en-US" sz="1000" dirty="0"/>
          </a:p>
        </p:txBody>
      </p:sp>
      <p:sp>
        <p:nvSpPr>
          <p:cNvPr id="53" name="Text 36"/>
          <p:cNvSpPr txBox="1"/>
          <p:nvPr/>
        </p:nvSpPr>
        <p:spPr>
          <a:xfrm>
            <a:off x="8600846" y="3552444"/>
            <a:ext cx="2543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돌봄 현장의 특성상 요양보호사 등 타인의 음성이 빈번히 섞임</a:t>
            </a:r>
            <a:endParaRPr lang="en-US" sz="900" dirty="0"/>
          </a:p>
        </p:txBody>
      </p:sp>
      <p:sp>
        <p:nvSpPr>
          <p:cNvPr id="54" name="Text 37"/>
          <p:cNvSpPr txBox="1"/>
          <p:nvPr/>
        </p:nvSpPr>
        <p:spPr>
          <a:xfrm>
            <a:off x="8600846" y="3924605"/>
            <a:ext cx="2543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타겟 노인의 발화 구간만 정확히 추출하여 STT 입력으로 사용</a:t>
            </a:r>
            <a:endParaRPr lang="en-US" sz="900" dirty="0"/>
          </a:p>
        </p:txBody>
      </p:sp>
      <p:sp>
        <p:nvSpPr>
          <p:cNvPr id="55" name="Text 38"/>
          <p:cNvSpPr txBox="1"/>
          <p:nvPr/>
        </p:nvSpPr>
        <p:spPr>
          <a:xfrm>
            <a:off x="8477402" y="4476902"/>
            <a:ext cx="27633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기대 효과</a:t>
            </a:r>
            <a:endParaRPr lang="en-US" sz="1000" dirty="0"/>
          </a:p>
        </p:txBody>
      </p:sp>
      <p:sp>
        <p:nvSpPr>
          <p:cNvPr id="56" name="Text 39"/>
          <p:cNvSpPr txBox="1"/>
          <p:nvPr/>
        </p:nvSpPr>
        <p:spPr>
          <a:xfrm>
            <a:off x="8287207" y="4705502"/>
            <a:ext cx="29535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음성 혼입(Cross-talk)으로 인한 Insertion/Substitution 에러 차단</a:t>
            </a:r>
            <a:endParaRPr lang="en-US" sz="900" dirty="0"/>
          </a:p>
        </p:txBody>
      </p:sp>
      <p:pic>
        <p:nvPicPr>
          <p:cNvPr id="57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287207" y="4512564"/>
            <a:ext cx="133502" cy="133502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1276502" y="5667451"/>
            <a:ext cx="9868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인사이트 </a:t>
            </a:r>
            <a:endParaRPr lang="en-US" sz="1200" dirty="0"/>
          </a:p>
        </p:txBody>
      </p:sp>
      <p:sp>
        <p:nvSpPr>
          <p:cNvPr id="59" name="Text 41"/>
          <p:cNvSpPr txBox="1"/>
          <p:nvPr/>
        </p:nvSpPr>
        <p:spPr>
          <a:xfrm>
            <a:off x="1047902" y="5918911"/>
            <a:ext cx="10096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VAD가 잘못 자르면 STT 모델이 아무리 좋아도 Deletion Error가 폭증합니다. 노인 음성은 </a:t>
            </a: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'긴 침묵 = 문장 끝'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아닌 경우가 많아, 이 임계값 재튜닝이 </a:t>
            </a: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H2(부가설) 검증의 핵심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입니다. </a:t>
            </a:r>
            <a:endParaRPr lang="en-US" sz="1100" dirty="0"/>
          </a:p>
        </p:txBody>
      </p:sp>
      <p:pic>
        <p:nvPicPr>
          <p:cNvPr id="60" name="Image 16" descr="preencoded.png"/>
          <p:cNvPicPr>
            <a:picLocks noChangeAspect="1"/>
          </p:cNvPicPr>
          <p:nvPr/>
        </p:nvPicPr>
        <p:blipFill>
          <a:blip r:embed="rId14"/>
          <a:srcRect l="-16666" r="-16666"/>
          <a:stretch/>
        </p:blipFill>
        <p:spPr>
          <a:xfrm>
            <a:off x="1047902" y="5695798"/>
            <a:ext cx="152705" cy="152705"/>
          </a:xfrm>
          <a:prstGeom prst="rect">
            <a:avLst/>
          </a:prstGeom>
        </p:spPr>
      </p:pic>
      <p:sp>
        <p:nvSpPr>
          <p:cNvPr id="61" name="Text 42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1695" y="476402"/>
            <a:ext cx="75895" cy="381305"/>
          </a:xfrm>
          <a:prstGeom prst="roundRect">
            <a:avLst>
              <a:gd name="adj" fmla="val 1204822"/>
            </a:avLst>
          </a:prstGeom>
          <a:solidFill>
            <a:srgbClr val="1F4E7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61695" y="1143000"/>
            <a:ext cx="5181905" cy="2514600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25400">
            <a:solidFill>
              <a:srgbClr val="E9ECEF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61695" y="3810305"/>
            <a:ext cx="5162702" cy="1543507"/>
          </a:xfrm>
          <a:prstGeom prst="roundRect">
            <a:avLst>
              <a:gd name="adj" fmla="val 8777"/>
            </a:avLst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286500" y="1143000"/>
            <a:ext cx="5219395" cy="340979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blurRad="114300" dist="38100" dir="16200000" algn="bl" rotWithShape="0">
              <a:srgbClr val="1F4E79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286500" y="4667098"/>
            <a:ext cx="5201107" cy="705002"/>
          </a:xfrm>
          <a:prstGeom prst="roundRect">
            <a:avLst>
              <a:gd name="adj" fmla="val 28044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43000" y="1904695"/>
            <a:ext cx="1410005" cy="1410005"/>
          </a:xfrm>
          <a:prstGeom prst="roundRect">
            <a:avLst>
              <a:gd name="adj" fmla="val 7011"/>
            </a:avLst>
          </a:prstGeom>
          <a:solidFill>
            <a:srgbClr val="1F4E79">
              <a:alpha val="10000"/>
            </a:srgbClr>
          </a:solidFill>
          <a:ln w="254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047695" y="1904695"/>
            <a:ext cx="457200" cy="1410005"/>
          </a:xfrm>
          <a:prstGeom prst="roundRect">
            <a:avLst>
              <a:gd name="adj" fmla="val 33333"/>
            </a:avLst>
          </a:prstGeom>
          <a:solidFill>
            <a:srgbClr val="E07B00">
              <a:alpha val="10000"/>
            </a:srgbClr>
          </a:solidFill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905402" y="2381098"/>
            <a:ext cx="1410005" cy="457200"/>
          </a:xfrm>
          <a:prstGeom prst="roundRect">
            <a:avLst>
              <a:gd name="adj" fmla="val 33333"/>
            </a:avLst>
          </a:prstGeom>
          <a:solidFill>
            <a:srgbClr val="E07B00">
              <a:alpha val="10000"/>
            </a:srgbClr>
          </a:solidFill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t="-24" b="-24"/>
          <a:stretch/>
        </p:blipFill>
        <p:spPr>
          <a:xfrm>
            <a:off x="6286500" y="1143000"/>
            <a:ext cx="5181905" cy="42885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476695" y="4990795"/>
            <a:ext cx="4762195" cy="152705"/>
          </a:xfrm>
          <a:prstGeom prst="roundRect">
            <a:avLst>
              <a:gd name="adj" fmla="val 598802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29" b="-29"/>
          <a:stretch/>
        </p:blipFill>
        <p:spPr>
          <a:xfrm>
            <a:off x="761695" y="5572354"/>
            <a:ext cx="10782605" cy="74340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238805" y="1695298"/>
            <a:ext cx="1143000" cy="247802"/>
          </a:xfrm>
          <a:prstGeom prst="roundRect">
            <a:avLst>
              <a:gd name="adj" fmla="val 340619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476695" y="4990795"/>
            <a:ext cx="95098" cy="152705"/>
          </a:xfrm>
          <a:prstGeom prst="roundRect">
            <a:avLst>
              <a:gd name="adj" fmla="val 961534"/>
            </a:avLst>
          </a:prstGeom>
          <a:solidFill>
            <a:srgbClr val="E07B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1000354" y="428854"/>
            <a:ext cx="84399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세부 기술 2 — Whisper + LoRA PEFT 파인튜닝</a:t>
            </a:r>
            <a:endParaRPr lang="en-US" sz="2700" dirty="0"/>
          </a:p>
        </p:txBody>
      </p:sp>
      <p:sp>
        <p:nvSpPr>
          <p:cNvPr id="19" name="Text 15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3. 방법론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12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52805" y="1285646"/>
            <a:ext cx="476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= W₀ + ΔW = W₀ + B·A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1162202" y="2286000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W₀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1162202" y="2553005"/>
            <a:ext cx="1334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Pretrained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(Frozen, d×d)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t="-24915" b="-24915"/>
          <a:stretch/>
        </p:blipFill>
        <p:spPr>
          <a:xfrm>
            <a:off x="2714854" y="2381098"/>
            <a:ext cx="133502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066898" y="2286000"/>
            <a:ext cx="381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2876702" y="3333902"/>
            <a:ext cx="7626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d×r</a:t>
            </a:r>
            <a:endParaRPr lang="en-US" sz="8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3590849" y="2400300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924605" y="2476195"/>
            <a:ext cx="1334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4209898" y="2809951"/>
            <a:ext cx="7626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r×d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4048049" y="1904695"/>
            <a:ext cx="1571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B: 0으로 초기화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4048049" y="2051914"/>
            <a:ext cx="15718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A: Gaussian 초기화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3140050" y="1742846"/>
            <a:ext cx="13414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&lt;&lt; d (저랭크 분해)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1200607" y="3952951"/>
            <a:ext cx="16578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왜 LoRA인가? 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2805" y="4003243"/>
            <a:ext cx="171907" cy="17190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43000" y="4286707"/>
            <a:ext cx="4572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 GPU 메모리 절약 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FT 대비 약 10% 수준의 VRAM 요구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1143000" y="4543654"/>
            <a:ext cx="469270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 과적합(Overfitting) 방지 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소량의 도메인 데이터 학습에 유리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1143000" y="4800600"/>
            <a:ext cx="4572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 원본 모델 보존 :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학습 후 어댑터(Adapter)만 분리/교체 가능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724498" y="1238098"/>
            <a:ext cx="281452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설정 (Hyperparameters) </a:t>
            </a:r>
            <a:endParaRPr lang="en-US" sz="13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6695" y="1288390"/>
            <a:ext cx="171907" cy="171907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6695" y="1666951"/>
          <a:ext cx="4762195" cy="2591410"/>
        </p:xfrm>
        <a:graphic>
          <a:graphicData uri="http://schemas.openxmlformats.org/drawingml/2006/table">
            <a:tbl>
              <a:tblPr/>
              <a:tblGrid>
                <a:gridCol w="1904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 Model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Whisper-large-v3 (1,550M params)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PEFT Method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LoRA (HuggingFace PEFT)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LoRA rank (r)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E07B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 (예시)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LoRA alpha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 Modules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q_proj, v_proj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Learning Rate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1e-4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Batch Size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Epochs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5–10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Optimizer / Scheduler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AdamW / Cosine + Warmup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14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Mixed Precision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33333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fp16</a:t>
                      </a:r>
                      <a:endParaRPr lang="en-US" sz="97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47549" marB="47549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 31"/>
          <p:cNvSpPr txBox="1"/>
          <p:nvPr/>
        </p:nvSpPr>
        <p:spPr>
          <a:xfrm>
            <a:off x="6476695" y="4743907"/>
            <a:ext cx="16852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가능 파라미터 비율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6476695" y="5162702"/>
            <a:ext cx="1305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~8M (~0.5%) Trainable</a:t>
            </a:r>
            <a:endParaRPr lang="en-US" sz="900" dirty="0"/>
          </a:p>
        </p:txBody>
      </p:sp>
      <p:sp>
        <p:nvSpPr>
          <p:cNvPr id="42" name="Text 33"/>
          <p:cNvSpPr txBox="1"/>
          <p:nvPr/>
        </p:nvSpPr>
        <p:spPr>
          <a:xfrm>
            <a:off x="10459822" y="5162702"/>
            <a:ext cx="781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1,550M (Total)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1276502" y="5648249"/>
            <a:ext cx="98682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인사이트 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1047902" y="5869534"/>
            <a:ext cx="10096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LoRA는 '거대한 모델은 그대로 두고, 작은 어댑터만 학습'합니다. 이는 </a:t>
            </a: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연구의 H1(주가설)을 검증할 핵심 도구</a:t>
            </a:r>
            <a:r>
              <a:rPr lang="en-US" sz="11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이며, 제한된 GPU 자원으로도 더 많은 Ablation 실험을 가능하게 합니다. </a:t>
            </a:r>
            <a:endParaRPr lang="en-US" sz="11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rcRect l="-16666" r="-16666"/>
          <a:stretch/>
        </p:blipFill>
        <p:spPr>
          <a:xfrm>
            <a:off x="1047902" y="5658307"/>
            <a:ext cx="152705" cy="152705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761695" y="476402"/>
            <a:ext cx="75895" cy="571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2381098"/>
            <a:ext cx="10668305" cy="58064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2952598"/>
            <a:ext cx="10668305" cy="9144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2952598"/>
            <a:ext cx="10668305" cy="580644"/>
          </a:xfrm>
          <a:prstGeom prst="rect">
            <a:avLst/>
          </a:prstGeom>
          <a:solidFill>
            <a:srgbClr val="1F4E79">
              <a:alpha val="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3524098"/>
            <a:ext cx="10668305" cy="9144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11" b="-11"/>
          <a:stretch/>
        </p:blipFill>
        <p:spPr>
          <a:xfrm>
            <a:off x="761695" y="3524098"/>
            <a:ext cx="10668305" cy="5907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4953305"/>
            <a:ext cx="5162702" cy="1304849"/>
          </a:xfrm>
          <a:prstGeom prst="roundRect">
            <a:avLst>
              <a:gd name="adj" fmla="val 8184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286500" y="4953305"/>
            <a:ext cx="5162702" cy="1304849"/>
          </a:xfrm>
          <a:prstGeom prst="roundRect">
            <a:avLst>
              <a:gd name="adj" fmla="val 8184"/>
            </a:avLst>
          </a:prstGeom>
          <a:solidFill>
            <a:srgbClr val="F8F9FA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41" b="-41"/>
          <a:stretch/>
        </p:blipFill>
        <p:spPr>
          <a:xfrm>
            <a:off x="761695" y="1333195"/>
            <a:ext cx="10724998" cy="381305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761695" y="1904695"/>
            <a:ext cx="10668305" cy="476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0354" y="428854"/>
            <a:ext cx="80010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실험 설계 1 — Ablation 비교군 (Experimental Conditions)</a:t>
            </a:r>
            <a:endParaRPr lang="en-US" sz="2500" dirty="0"/>
          </a:p>
        </p:txBody>
      </p:sp>
      <p:sp>
        <p:nvSpPr>
          <p:cNvPr id="16" name="Text 10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4. 검증 ⭐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13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047902" y="1410005"/>
            <a:ext cx="10096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단계적으로 변수를 추가하며 각 가설의 효과를 분리 검증한다 (Controlled Ablation)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952805" y="2018995"/>
            <a:ext cx="1714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실험군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2667305" y="2018995"/>
            <a:ext cx="2286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Model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953305" y="2018995"/>
            <a:ext cx="1905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PEFT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0" y="2018995"/>
            <a:ext cx="2286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노인용 VAD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2018995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검증 가설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52805" y="2523744"/>
            <a:ext cx="1714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E0 </a:t>
            </a:r>
            <a:r>
              <a:rPr 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(Baseline)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2667305" y="2553005"/>
            <a:ext cx="2286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Whisper-large-v3</a:t>
            </a:r>
            <a:endParaRPr lang="en-US" sz="12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5820156" y="2553005"/>
            <a:ext cx="171907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22108" y="2553005"/>
            <a:ext cx="1421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(기본 VAD)</a:t>
            </a:r>
            <a:endParaRPr lang="en-US" sz="12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7530998" y="2600554"/>
            <a:ext cx="114300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144000" y="2553005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(기준선)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952805" y="3095244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2667305" y="3124505"/>
            <a:ext cx="2286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Whisper-large-v3</a:t>
            </a:r>
            <a:endParaRPr lang="en-US" sz="12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5805526" y="3124505"/>
            <a:ext cx="200254" cy="2286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722108" y="3124505"/>
            <a:ext cx="14218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(기본 VAD)</a:t>
            </a:r>
            <a:endParaRPr lang="en-US" sz="12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7530998" y="3172054"/>
            <a:ext cx="114300" cy="1527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144000" y="3095244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952805" y="3666744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2667305" y="3696005"/>
            <a:ext cx="2286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Whisper-large-v3</a:t>
            </a:r>
            <a:endParaRPr lang="en-US" sz="12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5805526" y="3696005"/>
            <a:ext cx="200254" cy="2286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839151" y="3696005"/>
            <a:ext cx="1304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(재튜닝)</a:t>
            </a:r>
            <a:endParaRPr lang="en-US" sz="12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7629754" y="3743554"/>
            <a:ext cx="133502" cy="15270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144000" y="3666744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</a:t>
            </a:r>
            <a:endParaRPr lang="en-US" sz="1500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2391156" y="4362602"/>
            <a:ext cx="171907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2667305" y="4286707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E0 → E1 차이 = ⭐ H1 효과</a:t>
            </a:r>
            <a:endParaRPr lang="en-US" sz="1200" dirty="0"/>
          </a:p>
        </p:txBody>
      </p:sp>
      <p:sp>
        <p:nvSpPr>
          <p:cNvPr id="43" name="Text 30"/>
          <p:cNvSpPr txBox="1"/>
          <p:nvPr/>
        </p:nvSpPr>
        <p:spPr>
          <a:xfrm>
            <a:off x="2667305" y="45335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(PEFT의 순수 기여)</a:t>
            </a:r>
            <a:endParaRPr lang="en-US" sz="10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5820156" y="4362602"/>
            <a:ext cx="171907" cy="22860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6096305" y="4286707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 → E2 차이 = ⭐ H2 효과</a:t>
            </a:r>
            <a:endParaRPr lang="en-US" sz="1200" dirty="0"/>
          </a:p>
        </p:txBody>
      </p:sp>
      <p:sp>
        <p:nvSpPr>
          <p:cNvPr id="46" name="Text 32"/>
          <p:cNvSpPr txBox="1"/>
          <p:nvPr/>
        </p:nvSpPr>
        <p:spPr>
          <a:xfrm>
            <a:off x="6096305" y="4533595"/>
            <a:ext cx="2857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(VAD 재튜닝의 추가 기여)</a:t>
            </a:r>
            <a:endParaRPr lang="en-US" sz="1000" dirty="0"/>
          </a:p>
        </p:txBody>
      </p:sp>
      <p:sp>
        <p:nvSpPr>
          <p:cNvPr id="47" name="Text 33"/>
          <p:cNvSpPr txBox="1"/>
          <p:nvPr/>
        </p:nvSpPr>
        <p:spPr>
          <a:xfrm>
            <a:off x="1172261" y="5095951"/>
            <a:ext cx="454365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통제 변수 (모든 실험 동일) </a:t>
            </a:r>
            <a:endParaRPr lang="en-US" sz="1200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3"/>
          <a:srcRect l="-363" r="-363"/>
          <a:stretch/>
        </p:blipFill>
        <p:spPr>
          <a:xfrm>
            <a:off x="952805" y="5144414"/>
            <a:ext cx="142646" cy="161849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1143000" y="5429707"/>
            <a:ext cx="2360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동일한 Test Set (화자 단위 분할)</a:t>
            </a:r>
            <a:endParaRPr lang="en-US" sz="1000" dirty="0"/>
          </a:p>
        </p:txBody>
      </p:sp>
      <p:sp>
        <p:nvSpPr>
          <p:cNvPr id="50" name="Text 35"/>
          <p:cNvSpPr txBox="1"/>
          <p:nvPr/>
        </p:nvSpPr>
        <p:spPr>
          <a:xfrm>
            <a:off x="1143000" y="5655564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동일한 디코딩 설정 (beam=5)</a:t>
            </a:r>
            <a:endParaRPr lang="en-US" sz="1000" dirty="0"/>
          </a:p>
        </p:txBody>
      </p:sp>
      <p:sp>
        <p:nvSpPr>
          <p:cNvPr id="51" name="Text 36"/>
          <p:cNvSpPr txBox="1"/>
          <p:nvPr/>
        </p:nvSpPr>
        <p:spPr>
          <a:xfrm>
            <a:off x="3524098" y="5429707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동일한 평가 지표 (CER, WER)</a:t>
            </a:r>
            <a:endParaRPr lang="en-US" sz="1000" dirty="0"/>
          </a:p>
        </p:txBody>
      </p:sp>
      <p:sp>
        <p:nvSpPr>
          <p:cNvPr id="52" name="Text 37"/>
          <p:cNvSpPr txBox="1"/>
          <p:nvPr/>
        </p:nvSpPr>
        <p:spPr>
          <a:xfrm>
            <a:off x="3524098" y="5655564"/>
            <a:ext cx="2190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동일한 통계 검증 방법</a:t>
            </a:r>
            <a:endParaRPr lang="en-US" sz="1000" dirty="0"/>
          </a:p>
        </p:txBody>
      </p:sp>
      <p:sp>
        <p:nvSpPr>
          <p:cNvPr id="53" name="Text 38"/>
          <p:cNvSpPr txBox="1"/>
          <p:nvPr/>
        </p:nvSpPr>
        <p:spPr>
          <a:xfrm>
            <a:off x="6696151" y="5095951"/>
            <a:ext cx="454365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왜 3개 군만? — Time/GPU Budget </a:t>
            </a:r>
            <a:endParaRPr lang="en-US" sz="120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4"/>
          <a:srcRect l="-363" r="-363"/>
          <a:stretch/>
        </p:blipFill>
        <p:spPr>
          <a:xfrm>
            <a:off x="6476695" y="5144414"/>
            <a:ext cx="142646" cy="161849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6667805" y="5429707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제한된 8주 일정 및 단일 GPU 환경 고려</a:t>
            </a:r>
            <a:endParaRPr lang="en-US" sz="1000" dirty="0"/>
          </a:p>
        </p:txBody>
      </p:sp>
      <p:sp>
        <p:nvSpPr>
          <p:cNvPr id="56" name="Text 40"/>
          <p:cNvSpPr txBox="1"/>
          <p:nvPr/>
        </p:nvSpPr>
        <p:spPr>
          <a:xfrm>
            <a:off x="6667805" y="56555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가장 임팩트가 큰 핵심 가설(H1, H2) 검증에 집중</a:t>
            </a:r>
            <a:endParaRPr lang="en-US" sz="1000" dirty="0"/>
          </a:p>
        </p:txBody>
      </p:sp>
      <p:sp>
        <p:nvSpPr>
          <p:cNvPr id="57" name="Text 41"/>
          <p:cNvSpPr txBox="1"/>
          <p:nvPr/>
        </p:nvSpPr>
        <p:spPr>
          <a:xfrm>
            <a:off x="6667805" y="588233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Fine-Tuning은 향후 확장 연구의 비교 대상으로 유보</a:t>
            </a:r>
            <a:endParaRPr lang="en-US" sz="1000" dirty="0"/>
          </a:p>
        </p:txBody>
      </p:sp>
      <p:sp>
        <p:nvSpPr>
          <p:cNvPr id="58" name="Text 42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761695" y="476402"/>
            <a:ext cx="75895" cy="571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5181905" cy="2514600"/>
          </a:xfrm>
          <a:prstGeom prst="roundRect">
            <a:avLst>
              <a:gd name="adj" fmla="val 2204"/>
            </a:avLst>
          </a:prstGeom>
          <a:solidFill>
            <a:srgbClr val="FFFFFF"/>
          </a:solidFill>
          <a:ln w="25400">
            <a:solidFill>
              <a:srgbClr val="1F4E79"/>
            </a:solidFill>
            <a:prstDash val="solid"/>
          </a:ln>
          <a:effectLst>
            <a:outerShdw blurRad="114300" dist="38100" dir="16200000" algn="bl" rotWithShape="0">
              <a:srgbClr val="1F4E79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4000500"/>
            <a:ext cx="1638605" cy="1114654"/>
          </a:xfrm>
          <a:prstGeom prst="roundRect">
            <a:avLst>
              <a:gd name="adj" fmla="val 1121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523744" y="4000500"/>
            <a:ext cx="1638605" cy="1114654"/>
          </a:xfrm>
          <a:prstGeom prst="roundRect">
            <a:avLst>
              <a:gd name="adj" fmla="val 1121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86707" y="4000500"/>
            <a:ext cx="1638605" cy="1114654"/>
          </a:xfrm>
          <a:prstGeom prst="roundRect">
            <a:avLst>
              <a:gd name="adj" fmla="val 11218"/>
            </a:avLst>
          </a:prstGeom>
          <a:solidFill>
            <a:srgbClr val="E07B00">
              <a:alpha val="5000"/>
            </a:srgbClr>
          </a:solidFill>
          <a:ln w="127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286500" y="1333195"/>
            <a:ext cx="5162702" cy="2018995"/>
          </a:xfrm>
          <a:prstGeom prst="roundRect">
            <a:avLst>
              <a:gd name="adj" fmla="val 3418"/>
            </a:avLst>
          </a:prstGeom>
          <a:solidFill>
            <a:srgbClr val="F8F9FA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286500" y="3524098"/>
            <a:ext cx="5181905" cy="1609344"/>
          </a:xfrm>
          <a:prstGeom prst="roundRect">
            <a:avLst>
              <a:gd name="adj" fmla="val 5379"/>
            </a:avLst>
          </a:prstGeom>
          <a:solidFill>
            <a:srgbClr val="E07B00">
              <a:alpha val="3000"/>
            </a:srgbClr>
          </a:solidFill>
          <a:ln w="25400">
            <a:solidFill>
              <a:srgbClr val="E07B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7" b="-17"/>
          <a:stretch/>
        </p:blipFill>
        <p:spPr>
          <a:xfrm>
            <a:off x="761695" y="5333695"/>
            <a:ext cx="10724998" cy="9528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52805" y="1857146"/>
            <a:ext cx="4762195" cy="476402"/>
          </a:xfrm>
          <a:prstGeom prst="roundRect">
            <a:avLst>
              <a:gd name="adj" fmla="val 46065"/>
            </a:avLst>
          </a:prstGeom>
          <a:solidFill>
            <a:srgbClr val="1F4E79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1000354" y="428854"/>
            <a:ext cx="80010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실험 설계 2 — 평가지표 &amp; 통계 검증</a:t>
            </a:r>
            <a:endParaRPr lang="en-US" sz="2500" dirty="0"/>
          </a:p>
        </p:txBody>
      </p:sp>
      <p:sp>
        <p:nvSpPr>
          <p:cNvPr id="15" name="Text 11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4. 검증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14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219810" y="147675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Metric: CER (Character Error Rate) 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2805" y="1490472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47902" y="19522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75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 = (S + D + I) / N × 100%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24761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S: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Substitution (대치), </a:t>
            </a: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D: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Deletion (삭제), </a:t>
            </a: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I: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Insertion (삽입), </a:t>
            </a: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N: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정답 글자 수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299100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한국어 STT의 표준 지표 (단어 단위의 영어 WER보다 교착어인 한국어 특성에 더 적합)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343254" y="3504895"/>
            <a:ext cx="4371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수치가 낮을수록 우수한 성능을 의미함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6667" r="-16667"/>
          <a:stretch/>
        </p:blipFill>
        <p:spPr>
          <a:xfrm>
            <a:off x="1143000" y="3542386"/>
            <a:ext cx="142646" cy="14264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57707" y="4143146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857707" y="4410151"/>
            <a:ext cx="14292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(Word Error Rate)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단어 단위 오류 비교 보조 지표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2619756" y="4143146"/>
            <a:ext cx="14292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RTF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2619756" y="4410151"/>
            <a:ext cx="14292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(Real-Time Factor)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처리 속도 측정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(RTF &lt; 1 이면 실시간)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4381805" y="4143146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 유형 분해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381805" y="4448556"/>
            <a:ext cx="14292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/ Ins / Sub 비율 분석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H2 검증의 핵심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724498" y="1476756"/>
            <a:ext cx="45153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Testing 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76695" y="1488643"/>
            <a:ext cx="171907" cy="17190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810451" y="2124151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같은 테스트셋 쌍대 비교 → 통계적 검정력(Power) 상승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810451" y="2695651"/>
            <a:ext cx="4429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오차 분포의 정규성 가정 없이 안정적인 신뢰구간 도출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667805" y="300014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유의수준 (α)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0.05 (필요시 Bonferroni 다중비교 보정 적용)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6724498" y="3666744"/>
            <a:ext cx="45153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성공 기준 (Success Criteria) </a:t>
            </a:r>
            <a:endParaRPr lang="en-US" sz="13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6476695" y="3717036"/>
            <a:ext cx="171907" cy="171907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6868058" y="4048049"/>
            <a:ext cx="43717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Primary:</a:t>
            </a: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상대 개선율 </a:t>
            </a: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30%</a:t>
            </a: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(E0 대비 E1 감소폭)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6868058" y="4291279"/>
            <a:ext cx="43717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Stretch Goal:</a:t>
            </a: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절대 CER </a:t>
            </a: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10~12%</a:t>
            </a: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도달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6667805" y="453359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추가 보고:</a:t>
            </a: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화자 그룹별(정상/구음장애/초고령) Subgroup 분석</a:t>
            </a:r>
            <a:endParaRPr lang="en-US" sz="11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6250" b="-6250"/>
          <a:stretch/>
        </p:blipFill>
        <p:spPr>
          <a:xfrm>
            <a:off x="6667805" y="4094683"/>
            <a:ext cx="142646" cy="142646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667805" y="4336999"/>
            <a:ext cx="142646" cy="14264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276502" y="5477256"/>
            <a:ext cx="9868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왜 상대 개선율을 우선 기준으로 삼는가? </a:t>
            </a:r>
            <a:endParaRPr lang="en-US" sz="1200" dirty="0"/>
          </a:p>
        </p:txBody>
      </p:sp>
      <p:sp>
        <p:nvSpPr>
          <p:cNvPr id="42" name="Text 32"/>
          <p:cNvSpPr txBox="1"/>
          <p:nvPr/>
        </p:nvSpPr>
        <p:spPr>
          <a:xfrm>
            <a:off x="1047902" y="5762549"/>
            <a:ext cx="100968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Whisper baseline(E0) 자체의 노인 음성 인식 변동성이 크기 때문에, 특정 절대 수치(예: 10%) 달성 여부보다는 </a:t>
            </a:r>
            <a:r>
              <a:rPr lang="en-US" sz="11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파인튜닝으로 인한 '상대적 감소폭(≥ 30%)'이 방법론의 효과를 증명하는 더 일반화 가능한 학술적 기준</a:t>
            </a:r>
            <a:r>
              <a:rPr lang="en-US" sz="11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 됩니다. </a:t>
            </a:r>
            <a:endParaRPr lang="en-US" sz="110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l="-16666" r="-16666"/>
          <a:stretch/>
        </p:blipFill>
        <p:spPr>
          <a:xfrm>
            <a:off x="1047902" y="5524805"/>
            <a:ext cx="152705" cy="152705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17" b="-217"/>
          <a:stretch/>
        </p:blipFill>
        <p:spPr>
          <a:xfrm>
            <a:off x="761695" y="476402"/>
            <a:ext cx="75895" cy="4764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238098"/>
            <a:ext cx="5162702" cy="2971800"/>
          </a:xfrm>
          <a:prstGeom prst="roundRect">
            <a:avLst>
              <a:gd name="adj" fmla="val 1578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143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761695" y="4381805"/>
            <a:ext cx="5201107" cy="10479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91402" y="1238098"/>
            <a:ext cx="5277002" cy="4229100"/>
          </a:xfrm>
          <a:prstGeom prst="roundRect">
            <a:avLst>
              <a:gd name="adj" fmla="val 779"/>
            </a:avLst>
          </a:prstGeom>
          <a:solidFill>
            <a:srgbClr val="FFF8F0"/>
          </a:solidFill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15" r="-15"/>
          <a:stretch/>
        </p:blipFill>
        <p:spPr>
          <a:xfrm>
            <a:off x="761695" y="5619902"/>
            <a:ext cx="10724998" cy="71414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17" b="-17"/>
          <a:stretch/>
        </p:blipFill>
        <p:spPr>
          <a:xfrm>
            <a:off x="6191402" y="1238098"/>
            <a:ext cx="5238598" cy="47640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00354" y="428854"/>
            <a:ext cx="80010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기대 결과 + 가설 기각 시 해석</a:t>
            </a:r>
            <a:endParaRPr lang="en-US" sz="2500" dirty="0"/>
          </a:p>
        </p:txBody>
      </p:sp>
      <p:sp>
        <p:nvSpPr>
          <p:cNvPr id="12" name="Text 6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4. 검증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15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2002536" y="1380744"/>
            <a:ext cx="37133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CER Reduction (Mockup) 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54734" y="1392631"/>
            <a:ext cx="171907" cy="171907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l="-11" r="-11"/>
          <a:stretch/>
        </p:blipFill>
        <p:spPr>
          <a:xfrm>
            <a:off x="1143000" y="1762049"/>
            <a:ext cx="4381805" cy="19046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952805" y="3810305"/>
            <a:ext cx="4763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 가상 데이터 기반 예상치 (실제 검증 필요)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1172261" y="4524451"/>
            <a:ext cx="50804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채택 시: PEFT 효과 입증 → 노인 음성 도메인 적응의 정당성 확보</a:t>
            </a:r>
            <a:endParaRPr lang="en-US" sz="11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2805" y="4543654"/>
            <a:ext cx="142646" cy="142646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172261" y="4800600"/>
            <a:ext cx="49862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채택 시: deletion error 추가 감소 → VAD 재튜닝의 기여 확인</a:t>
            </a:r>
            <a:endParaRPr lang="en-US" sz="11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52805" y="4819802"/>
            <a:ext cx="142646" cy="142646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638544" y="1352398"/>
            <a:ext cx="46012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Refuted — 가설 기각도 의미 있는 결과다 </a:t>
            </a:r>
            <a:endParaRPr lang="en-US" sz="14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81598" y="1403604"/>
            <a:ext cx="181051" cy="181051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6381598" y="2181758"/>
            <a:ext cx="4858207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3"/>
          <p:cNvSpPr txBox="1"/>
          <p:nvPr/>
        </p:nvSpPr>
        <p:spPr>
          <a:xfrm>
            <a:off x="6381598" y="1904695"/>
            <a:ext cx="4858207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■ H1 기각 시 </a:t>
            </a: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(CER 감소 &lt; 30% 또는 p ≥ 0.05)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6572707" y="2286000"/>
            <a:ext cx="466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가능 원인 1: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VOTE400 데이터의 화자/환경 다양성 부족</a:t>
            </a:r>
            <a:endParaRPr lang="en-US" sz="1100" dirty="0"/>
          </a:p>
        </p:txBody>
      </p:sp>
      <p:sp>
        <p:nvSpPr>
          <p:cNvPr id="26" name="Text 15"/>
          <p:cNvSpPr txBox="1"/>
          <p:nvPr/>
        </p:nvSpPr>
        <p:spPr>
          <a:xfrm>
            <a:off x="6572707" y="2514600"/>
            <a:ext cx="466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가능 원인 2: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설정한 LoRA rank 및 alpha 하이퍼파라미터 부적합</a:t>
            </a:r>
            <a:endParaRPr lang="en-US" sz="1100" dirty="0"/>
          </a:p>
        </p:txBody>
      </p:sp>
      <p:sp>
        <p:nvSpPr>
          <p:cNvPr id="27" name="Text 16"/>
          <p:cNvSpPr txBox="1"/>
          <p:nvPr/>
        </p:nvSpPr>
        <p:spPr>
          <a:xfrm>
            <a:off x="6744614" y="2790749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후속 조치: Full Fine-Tuning과의 직접 비교 실험 전개 </a:t>
            </a:r>
            <a:endParaRPr lang="en-US" sz="11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11"/>
          <a:srcRect t="-556" b="-556"/>
          <a:stretch/>
        </p:blipFill>
        <p:spPr>
          <a:xfrm>
            <a:off x="6572707" y="2827325"/>
            <a:ext cx="123444" cy="142646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6381598" y="3801161"/>
            <a:ext cx="4858207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18"/>
          <p:cNvSpPr txBox="1"/>
          <p:nvPr/>
        </p:nvSpPr>
        <p:spPr>
          <a:xfrm>
            <a:off x="6381598" y="3524098"/>
            <a:ext cx="4858207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■ H2 기각 시 </a:t>
            </a:r>
            <a:r>
              <a:rPr lang="en-US" sz="1000" b="1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(deletion error 감소 미미)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6572707" y="3905402"/>
            <a:ext cx="4888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가능 원인 1: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VAD 외 다른 전처리(화자 분리 등) 요인의 지배적 영향</a:t>
            </a:r>
            <a:endParaRPr lang="en-US" sz="1100" dirty="0"/>
          </a:p>
        </p:txBody>
      </p:sp>
      <p:sp>
        <p:nvSpPr>
          <p:cNvPr id="32" name="Text 20"/>
          <p:cNvSpPr txBox="1"/>
          <p:nvPr/>
        </p:nvSpPr>
        <p:spPr>
          <a:xfrm>
            <a:off x="6572707" y="4134002"/>
            <a:ext cx="5069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가능 원인 2:</a:t>
            </a: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Whisper 디코더 자체의 endpointing 기능이 이미 강건함</a:t>
            </a:r>
            <a:endParaRPr lang="en-US" sz="1100" dirty="0"/>
          </a:p>
        </p:txBody>
      </p:sp>
      <p:sp>
        <p:nvSpPr>
          <p:cNvPr id="33" name="Text 21"/>
          <p:cNvSpPr txBox="1"/>
          <p:nvPr/>
        </p:nvSpPr>
        <p:spPr>
          <a:xfrm>
            <a:off x="6744614" y="4410151"/>
            <a:ext cx="48618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후속 조치: 디코딩 설정(beam, length penalty) 추가 Ablation </a:t>
            </a:r>
            <a:endParaRPr lang="en-US" sz="110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rcRect t="-556" b="-556"/>
          <a:stretch/>
        </p:blipFill>
        <p:spPr>
          <a:xfrm>
            <a:off x="6572707" y="4446727"/>
            <a:ext cx="123444" cy="142646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114654" y="5695798"/>
            <a:ext cx="10125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 Result도 과학이다</a:t>
            </a: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가설이 기각되어도, 그 원인을 분석하는 과정에서 다음 연구의 방향이 도출됩니다. 사전에 해석 시나리오를 명시하는 것은 hindsight bias(사후 편향)를 막는 학술적 엄밀성의 표지입니다. </a:t>
            </a:r>
            <a:endParaRPr lang="en-US" sz="1100" dirty="0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2"/>
          <a:srcRect t="-870" b="-870"/>
          <a:stretch/>
        </p:blipFill>
        <p:spPr>
          <a:xfrm>
            <a:off x="952805" y="5723230"/>
            <a:ext cx="105156" cy="142646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761695" y="6524244"/>
            <a:ext cx="5715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761695" y="476402"/>
            <a:ext cx="75895" cy="5715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6" r="-6"/>
          <a:stretch/>
        </p:blipFill>
        <p:spPr>
          <a:xfrm>
            <a:off x="761695" y="1333195"/>
            <a:ext cx="5201107" cy="409559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5" r="-5"/>
          <a:stretch/>
        </p:blipFill>
        <p:spPr>
          <a:xfrm>
            <a:off x="6191402" y="1333195"/>
            <a:ext cx="5296205" cy="409559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761695" y="5667451"/>
            <a:ext cx="10724998" cy="619049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381598" y="2857500"/>
            <a:ext cx="4895698" cy="1276502"/>
          </a:xfrm>
          <a:prstGeom prst="roundRect">
            <a:avLst>
              <a:gd name="adj" fmla="val 8553"/>
            </a:avLst>
          </a:prstGeom>
          <a:solidFill>
            <a:srgbClr val="FFFFFF"/>
          </a:solidFill>
          <a:ln w="25400">
            <a:solidFill>
              <a:srgbClr val="E07B00"/>
            </a:solidFill>
            <a:prstDash val="solid"/>
          </a:ln>
          <a:effectLst>
            <a:outerShdw blurRad="76200" dist="25400" dir="16200000" algn="bl" rotWithShape="0">
              <a:srgbClr val="E07B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/>
          <p:cNvSpPr txBox="1"/>
          <p:nvPr/>
        </p:nvSpPr>
        <p:spPr>
          <a:xfrm>
            <a:off x="1000354" y="428854"/>
            <a:ext cx="83064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한계 및 향후 연구 (Limitations &amp; Future Work)</a:t>
            </a:r>
            <a:endParaRPr lang="en-US" sz="2500" dirty="0"/>
          </a:p>
        </p:txBody>
      </p:sp>
      <p:sp>
        <p:nvSpPr>
          <p:cNvPr id="11" name="Text 5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4. 검증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16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1314907" y="1476756"/>
            <a:ext cx="44010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of This Study 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902" y="1490472"/>
            <a:ext cx="190195" cy="19019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1104595" y="2009851"/>
            <a:ext cx="171907" cy="171907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429207" y="1952244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[한계 1] 데이터 다양성 편향 </a:t>
            </a:r>
            <a:r>
              <a:rPr lang="en-US" sz="8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일반화 제약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1600200" y="2219249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VOTE400 코퍼스는 표준어 위주로 수집됨</a:t>
            </a:r>
            <a:endParaRPr lang="en-US" sz="1000" dirty="0"/>
          </a:p>
        </p:txBody>
      </p:sp>
      <p:sp>
        <p:nvSpPr>
          <p:cNvPr id="17" name="Text 9"/>
          <p:cNvSpPr txBox="1"/>
          <p:nvPr/>
        </p:nvSpPr>
        <p:spPr>
          <a:xfrm>
            <a:off x="1600200" y="2419502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사투리(경상/전라/제주) 발화에 대한 모델 성능 보장 한계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1600200" y="2619756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화자의 출신 지역별 음운 차이를 충분히 커버하지 못함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04595" y="3057754"/>
            <a:ext cx="171907" cy="171907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429207" y="3000146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[한계 2] 다국어 확장 제약 </a:t>
            </a:r>
            <a:r>
              <a:rPr lang="en-US" sz="8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범위 제한</a:t>
            </a:r>
            <a:endParaRPr lang="en-US" sz="1200" dirty="0"/>
          </a:p>
        </p:txBody>
      </p:sp>
      <p:sp>
        <p:nvSpPr>
          <p:cNvPr id="21" name="Text 12"/>
          <p:cNvSpPr txBox="1"/>
          <p:nvPr/>
        </p:nvSpPr>
        <p:spPr>
          <a:xfrm>
            <a:off x="1600200" y="3267151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일본어 노인 음성 평가 데이터 현재 부재 (향후 실증 예정)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1600200" y="3467405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한일 멀티링구얼 성능 검증은 본 파인튜닝 연구 범위 외</a:t>
            </a:r>
            <a:endParaRPr lang="en-US" sz="1000" dirty="0"/>
          </a:p>
        </p:txBody>
      </p:sp>
      <p:sp>
        <p:nvSpPr>
          <p:cNvPr id="23" name="Text 14"/>
          <p:cNvSpPr txBox="1"/>
          <p:nvPr/>
        </p:nvSpPr>
        <p:spPr>
          <a:xfrm>
            <a:off x="1600200" y="3666744"/>
            <a:ext cx="425927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일본어 인식은 Whisper의 zero-shot 기본 성능에만 의존해야 함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104595" y="4105656"/>
            <a:ext cx="171907" cy="171907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429207" y="4048049"/>
            <a:ext cx="4286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[한계 3] 연산 자원 및 시간 제약 </a:t>
            </a:r>
            <a:r>
              <a:rPr lang="en-US" sz="8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GPU 한계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1600200" y="4315054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단일 GPU 환경에서 8주의 짧은 프로젝트 일정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1600200" y="4515307"/>
            <a:ext cx="41148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Fine-Tuning(전체 파라미터 학습)과의 직접 비교 어려움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1600200" y="4714646"/>
            <a:ext cx="42748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LoRA 하이퍼파라미터(r, alpha) 그리드 탐색 범위의 현실적 제한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6743700" y="1476756"/>
            <a:ext cx="44961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 — 본 연구의 확장 방향 </a:t>
            </a:r>
            <a:endParaRPr lang="en-US" sz="15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76695" y="1528877"/>
            <a:ext cx="190195" cy="190195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6476695" y="1904695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[향후 1] 한일 멀티링구얼 STT 고도화</a:t>
            </a:r>
            <a:endParaRPr lang="en-US" sz="1200" dirty="0"/>
          </a:p>
        </p:txBody>
      </p:sp>
      <p:sp>
        <p:nvSpPr>
          <p:cNvPr id="32" name="Text 21"/>
          <p:cNvSpPr txBox="1"/>
          <p:nvPr/>
        </p:nvSpPr>
        <p:spPr>
          <a:xfrm>
            <a:off x="6648602" y="2171700"/>
            <a:ext cx="4591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일본 오사카 사키시마(咲洲) 지역 노인 실증 테스트 및 데이터 수집</a:t>
            </a:r>
            <a:endParaRPr lang="en-US" sz="1000" dirty="0"/>
          </a:p>
        </p:txBody>
      </p:sp>
      <p:sp>
        <p:nvSpPr>
          <p:cNvPr id="33" name="Text 22"/>
          <p:cNvSpPr txBox="1"/>
          <p:nvPr/>
        </p:nvSpPr>
        <p:spPr>
          <a:xfrm>
            <a:off x="6648602" y="2371954"/>
            <a:ext cx="4591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 환경 기반 일본어 노인 음성 코퍼스 자체 구축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6648602" y="2572207"/>
            <a:ext cx="47393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Cross-lingual transfer learning(교차 언어 전이학습) 가능성 탐색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6733642" y="2905049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[향후 2] FI-SMOTE v4 음성 임베딩 확장 적용 </a:t>
            </a: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본인 선행 연구 연계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6696151" y="3172054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연구자의 선행 연구 </a:t>
            </a:r>
            <a:r>
              <a:rPr lang="en-US" sz="9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(김철중, 2024 — FI-SMOTE v4)</a:t>
            </a:r>
            <a:r>
              <a:rPr lang="en-US" sz="9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방법론 차용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6696151" y="3351276"/>
            <a:ext cx="5086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피처 중요도와 Beta 분포 보간 기법을 </a:t>
            </a:r>
            <a:r>
              <a:rPr lang="en-US" sz="900" b="1" u="sng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음성 임베딩 도메인</a:t>
            </a:r>
            <a:r>
              <a:rPr lang="en-US" sz="9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확장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6696151" y="3530498"/>
            <a:ext cx="4401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화자군 불균형(정상 vs 구음장애·초고령) 완화 목적의 오버샘플링 탐색</a:t>
            </a:r>
            <a:endParaRPr lang="en-US" sz="900" dirty="0"/>
          </a:p>
        </p:txBody>
      </p:sp>
      <p:sp>
        <p:nvSpPr>
          <p:cNvPr id="39" name="Text 28"/>
          <p:cNvSpPr txBox="1"/>
          <p:nvPr/>
        </p:nvSpPr>
        <p:spPr>
          <a:xfrm>
            <a:off x="6696151" y="3710635"/>
            <a:ext cx="51242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현 연구의 주 가설(PEFT 효과) 명료성 우선 원칙에 따라 본 실험 범위에서는 제외</a:t>
            </a:r>
            <a:endParaRPr lang="en-US" sz="9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rcRect t="-6250" b="-6250"/>
          <a:stretch/>
        </p:blipFill>
        <p:spPr>
          <a:xfrm>
            <a:off x="6524244" y="2952598"/>
            <a:ext cx="152705" cy="15270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476695" y="4238244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[향후 3] End-to-End 애플리케이션 통합 실증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6648602" y="4505249"/>
            <a:ext cx="4591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돌봄 AI 솔루션인 </a:t>
            </a:r>
            <a:r>
              <a:rPr lang="en-US" sz="10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'이야기봄'</a:t>
            </a: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플랫폼 백엔드 통합</a:t>
            </a:r>
            <a:endParaRPr lang="en-US" sz="1000" dirty="0"/>
          </a:p>
        </p:txBody>
      </p:sp>
      <p:sp>
        <p:nvSpPr>
          <p:cNvPr id="43" name="Text 31"/>
          <p:cNvSpPr txBox="1"/>
          <p:nvPr/>
        </p:nvSpPr>
        <p:spPr>
          <a:xfrm>
            <a:off x="6648602" y="4705502"/>
            <a:ext cx="51992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STT 인식 텍스트 → LLM 기반 문체 각색 → 생애사 자서전 생성 파이프라인 연계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6648602" y="4905756"/>
            <a:ext cx="4591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실사용자 대상 체감 품질(MOS) 및 UX 사용성 평가 추가 수행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1248156" y="5734202"/>
            <a:ext cx="98965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:</a:t>
            </a: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본 연구는 상용 STT와 노인 음성 간의 거대한 도메인 갭을 </a:t>
            </a:r>
            <a:r>
              <a:rPr lang="en-US" sz="11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'PEFT + VAD 재튜닝'</a:t>
            </a: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좁히는 첫 단계이며, 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다양한 후속 확장 연구(다국어, 불균형 데이터 처리, 앱 통합)를 촉발하기 위한 탄탄한 학술적·기술적 베이스라인을 제공합니다. </a:t>
            </a:r>
            <a:endParaRPr lang="en-US" sz="11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 l="-16667" r="-16667"/>
          <a:stretch/>
        </p:blipFill>
        <p:spPr>
          <a:xfrm>
            <a:off x="1047902" y="5770778"/>
            <a:ext cx="142646" cy="142646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761695" y="6429146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201" b="-201"/>
          <a:stretch/>
        </p:blipFill>
        <p:spPr>
          <a:xfrm>
            <a:off x="761695" y="476402"/>
            <a:ext cx="75895" cy="571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333195"/>
            <a:ext cx="5143500" cy="3771900"/>
          </a:xfrm>
          <a:prstGeom prst="roundRect">
            <a:avLst>
              <a:gd name="adj" fmla="val 979"/>
            </a:avLst>
          </a:prstGeom>
          <a:solidFill>
            <a:srgbClr val="1F4E79">
              <a:alpha val="3000"/>
            </a:srgbClr>
          </a:solidFill>
          <a:ln/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1333195"/>
            <a:ext cx="5143500" cy="57607"/>
          </a:xfrm>
          <a:prstGeom prst="roundRect">
            <a:avLst>
              <a:gd name="adj" fmla="val 64134"/>
            </a:avLst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096305" y="1333195"/>
            <a:ext cx="5352898" cy="3733495"/>
          </a:xfrm>
          <a:prstGeom prst="roundRect">
            <a:avLst>
              <a:gd name="adj" fmla="val 1000"/>
            </a:avLst>
          </a:prstGeom>
          <a:solidFill>
            <a:srgbClr val="F8F9FA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61695" y="5191049"/>
            <a:ext cx="10705795" cy="1181405"/>
          </a:xfrm>
          <a:prstGeom prst="roundRect">
            <a:avLst>
              <a:gd name="adj" fmla="val 9987"/>
            </a:avLst>
          </a:prstGeom>
          <a:solidFill>
            <a:srgbClr val="1F4E79"/>
          </a:solidFill>
          <a:ln w="25400">
            <a:solidFill>
              <a:srgbClr val="E07B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000354" y="428854"/>
            <a:ext cx="786475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결론 &amp; 참고문헌 (Conclusion &amp; References)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9048902" y="476402"/>
            <a:ext cx="2382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Part 4. 검증 </a:t>
            </a:r>
            <a:r>
              <a:rPr lang="en-US" sz="1200" b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Slide 17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47902" y="1571854"/>
            <a:ext cx="4572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📌 Conclusion — 본 연구의 학술적 위치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47902" y="209580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①</a:t>
            </a: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 연구는 노인 음성 STT의 도메인 갭을 PEFT(LoRA)로 해결하는 가설 H1·H2를 통계적으로 검증한다.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2704795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②</a:t>
            </a: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VOTE400 + Whisper-large-v3 + LoRA의 결합은 한국어 노인 음성 STT의 새로운 baseline이 될 수 있다.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47902" y="33147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③</a:t>
            </a:r>
            <a:r>
              <a:rPr lang="en-US" sz="12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검증 결과는 노인 돌봄 AI 서비스(이야기봄 등)의 핵심 기술 자산으로 활용될 것이다.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4190695"/>
            <a:ext cx="4572000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F4E7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#ElderlySpeech#Whisper#LoRA#PEFT#VOTE400#CER#DomainAdaptation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286500" y="1476756"/>
            <a:ext cx="4763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040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📚 References (선택 8건)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15100" y="1857146"/>
            <a:ext cx="47247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Radford, A., Kim, J. W., Xu, T., Brockman, G., McLeavey, C., &amp; Sutskever, I. (2023). Robust Speech Recognition via Large-Scale Weak Supervision. </a:t>
            </a:r>
            <a:r>
              <a:rPr lang="en-US" sz="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ICML 2023</a:t>
            </a: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(Whisper)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6515100" y="2218334"/>
            <a:ext cx="47247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Hu, E. J., Shen, Y., Wallis, P., Allen-Zhu, Z., Li, Y., Wang, S., Wang, L., &amp; Chen, W. (2021). LoRA: Low-Rank Adaptation of Large Language Models. </a:t>
            </a:r>
            <a:r>
              <a:rPr lang="en-US" sz="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ICLR 2022</a:t>
            </a: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515100" y="2579522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Park, D. S., Chan, W., Zhang, Y., Chiu, C.-C., Zoph, B., Cubuk, E. D., &amp; Le, Q. V. (2019). SpecAugment: A Simple Data Augmentation Method for Automatic Speech Recognition. </a:t>
            </a:r>
            <a:r>
              <a:rPr lang="en-US" sz="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Interspeech 2019</a:t>
            </a: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515100" y="3092501"/>
            <a:ext cx="52193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ETRI &amp; 마인즈랩. (n.d.). VOTE400 한국어 노인 음성 데이터셋. </a:t>
            </a:r>
            <a:r>
              <a:rPr lang="en-US" sz="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AI허브</a:t>
            </a: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https://aihub.or.kr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6515100" y="3301898"/>
            <a:ext cx="47247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Bredin, H., et al. (2020). pyannote.audio: Neural Building Blocks for Speaker Diarization. </a:t>
            </a:r>
            <a:r>
              <a:rPr lang="en-US" sz="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ICASSP 2020</a:t>
            </a: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6515100" y="3663086"/>
            <a:ext cx="47247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Chawla, N. V., Bowyer, K., Hall, L. O., &amp; Kegelmeyer, W. P. (2002). SMOTE: Synthetic Minority Over-sampling Technique. </a:t>
            </a:r>
            <a:r>
              <a:rPr lang="en-US" sz="80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JAIR</a:t>
            </a: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16, 321–357.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6515100" y="4023360"/>
            <a:ext cx="47247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김철중. (2024). 극한의 클래스 불균형 완화를 위한 피처 중요도 가중 기반 Beta 벡터 보간법 (FI-SMOTE v4). [본인 선행 연구]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515100" y="4384548"/>
            <a:ext cx="4724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통계청. (2024). 2024 고령자 통계. 대한민국 통계청.</a:t>
            </a:r>
            <a:endParaRPr lang="en-US" sz="8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 t="-6250" b="-6250"/>
          <a:stretch/>
        </p:blipFill>
        <p:spPr>
          <a:xfrm>
            <a:off x="7489850" y="4188866"/>
            <a:ext cx="105156" cy="10515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52805" y="5333695"/>
            <a:ext cx="10287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감사합니다. 질문 환영합니다.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952805" y="5705856"/>
            <a:ext cx="10287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8" dirty="0">
                <a:solidFill>
                  <a:srgbClr val="E9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 Q&amp;A welcome.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952805" y="5943600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75" dirty="0">
                <a:solidFill>
                  <a:srgbClr val="E07B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R.A.G Team — 가설은 검증되어야 한다.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761695" y="6476695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노인 음성 인식 성능 개선을 위한 Whisper PEFT </a:t>
            </a:r>
            <a:r>
              <a:rPr lang="en-US" sz="1000" dirty="0" err="1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파인튜닝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3460</Words>
  <Application>Microsoft Office PowerPoint</Application>
  <PresentationFormat>와이드스크린</PresentationFormat>
  <Paragraphs>433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Inter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철중 김</cp:lastModifiedBy>
  <cp:revision>2</cp:revision>
  <dcterms:created xsi:type="dcterms:W3CDTF">2026-04-28T16:14:19Z</dcterms:created>
  <dcterms:modified xsi:type="dcterms:W3CDTF">2026-04-29T07:49:49Z</dcterms:modified>
</cp:coreProperties>
</file>