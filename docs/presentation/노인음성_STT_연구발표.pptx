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 (%)</c:v>
                </c:pt>
              </c:strCache>
            </c:strRef>
          </c:tx>
          <c:spPr>
            <a:solidFill>
              <a:srgbClr val="E883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3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Deletion (누락)</c:v>
                  </c:pt>
                  <c:pt idx="1">
                    <c:v>Substitution (오인식)</c:v>
                  </c:pt>
                  <c:pt idx="2">
                    <c:v>Insertion (추가 출력)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4.25</c:v>
                </c:pt>
                <c:pt idx="1">
                  <c:v>1.7</c:v>
                </c:pt>
                <c:pt idx="2">
                  <c:v>0.15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발화 수</c:v>
                </c:pt>
              </c:strCache>
            </c:strRef>
          </c:tx>
          <c:spPr>
            <a:solidFill>
              <a:srgbClr val="228B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8B2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0AE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개선 (B가 좋음)</c:v>
                  </c:pt>
                  <c:pt idx="1">
                    <c:v>동일</c:v>
                  </c:pt>
                  <c:pt idx="2">
                    <c:v>악화 (A가 좋음)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229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슬라이드. 연구의 핵심 메시지는 '가설이 틀렸지만, 그 틀린 이유가 다음 방향을 정확히 가리킨다'는 것. 청중이 '뭔가 흥미로운 이야기가 나오겠다'는 기대를 갖도록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 슬라이드. '결론'이 10번이지만 실제로는 첫 번째로 흥미로운 이야기가 중간에 있다고 언급해도 좋음.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메커니즘: 딥러닝 모델은 학습 데이터의 분포를 그대로 반영함. 청·장년 음성이 대부분인 데이터로 학습된 Whisper는 발화 패턴이 다른 노인 음성에서 예측이 흔들릴 수 있음. 이 연구는 그 '흔들림'을 실측하고 개선하는 것이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4가지 특성이 STT에 미치는 영향: ①③은 Deletion(글자 누락) 오류를 유발 — 모델이 침묵을 발화 종료로 오인해 뒷부분을 출력하지 않음. ②는 Substitution(오인식) 오류. ④는 Insertion(불필요 출력) 오류. H1, H2 가설은 각각 이 오류 유형을 표적으로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H1은 학교 GPU가 열리면 실행 예정 (미완). H2는 이미 실험 완료 (이번 발표 핵심). 두 가설 모두 Deletion 오류를 표적으로 하는 공통점이 있음: Whisper 내부에서 '이제 발화가 끝났다'고 잘못 판단하면 뒤 텍스트가 통째로 누락됨. H1은 모델 내부를, H2는 전처리 단계를 고치는 접근.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VOTE400은 구음장애 화자, 80세 이상 초고령 화자 등 '어려운' 케이스를 포함한 데이터셋. 현재 AI허브 샘플은 비교적 발화가 명확한 60~75세 수도권 화자 위주 — Whisper가 잘하는 케이스일 가능성이 높음. 이것이 CER이 예상보다 낮게 나온 이유 중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 (글자 오류율, Character Error Rate) = (삭제+대체+삽입 오류 수) ÷ 정답 글자 수 × 100. raw 수치가 예상보다 낮은 것은 좋은 신호지만, 이 숫자에는 AI허브 라벨의 특수 태그가 '오류'로 계산된 것이 포함되어 있음 → 다음 슬라이드에서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AI허브 태그 설명: (NO:)는 발화 중 비언어 요소, (SP:)는 방언/비표준어, (FP:)는 채움말(filler), (SN:)는 잡음. Whisper는 이 태그를 모르므로 정답에 (NO:) 등이 있으면 무조건 오류로 집계됨. 정제 = 이 태그를 벗겨서 실제 발화 내용만 남기는 것. Deletion의 85%가 이 태그 형식 차이에서 발생했다는 것이 핵심 발견.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코드가 없으면 일어나는 일: AI허브 원본 라벨에는 (NO:버릇이야) 같은 태그가 포함되어 있어, Whisper가 '버릇이야'라고 정확히 출력해도 정답에 태그가 있어 오류로 집계됨. 즉 모델은 잘했는데 측정이 잘못된 상황. 정제하지 않으면 CER 4.25%가 아닌 6.85%로 과대 측정됨.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코드가 없으면 일어나는 일: language 파라미터 없이 실행하면 Whisper가 영어로 출력하거나 언어를 잘못 감지하는 경우가 발생. num_beams=1(탐욕 탐색)로 줄이면 속도는 빠르지만 정확도가 낮아짐. jiwer 없이 직접 CER을 계산하면 유니코드 정규화 등 엣지케이스를 놓칠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Silero VAD는 러시아 스타트업 Silero에서 만든 경량 VAD 모델. 음성 신호를 30ms 단위로 분석하여 발화/침묵을 구분. min_silence_duration_ms=2000 설정은 '2초 이상 침묵이면 발화 경계로 판단'을 의미. 노인 발화의 장휴지(1~3초)를 감안한 설정값.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메커니즘: Silero VAD가 노인의 '반복 발화'(그래서 병원 그래서 병원~) 사이 짧은 간격을 침묵으로 판단하여 오디오를 잘라버림. Whisper 내장 VAD는 오디오 전체를 문맥으로 보기 때문에 반복을 자연스럽게 처리. 즉 '외부 전처리 → 문맥 손실'이 발생. 이것이 H2가 반박된 메커니즘.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코드가 없으면 일어나는 일: VAD 없이 그냥 Whisper에 긴 오디오를 넣으면, Whisper 내장 VAD가 자체적으로 처리함 → 실험 결과 이게 더 좋았음. 외부 VAD는 오히려 간섭. 교훈: '더 좋은 전처리'가 항상 성능을 높이지는 않음. 모델이 이미 잘 처리하고 있는 것에 손대면 방해가 될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말할 부분: E2의 화자 편향(279/281)은 실험 설계상 약점. 결과를 '모든 노인 화자에게 일반화'하기 어렵다고 명시해야 함. VOTE400 데이터가 오면 이 문제가 해결될 가능성 높음. LoRA는 아직 실행 전 — 결과가 없는 가설로 남아있음을 솔직히 밝히는 것이 신뢰성을 높임.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포인트: 연구에서 가설이 반박되는 것은 실패가 아님. H2가 반박됨으로써 'Whisper 내부 VAD는 이미 노인 발화를 충분히 처리한다'는 사실이 드러났고, 이는 H1(LoRA) — 모델 내부를 fine-tune하는 접근 — 이 더 적합하다는 근거가 됨. 가설→실험→반박→재설정 사이클이 제대로 작동한 연구.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4080">
              <a:alpha val="40000"/>
            </a:srgbClr>
          </a:solidFill>
          <a:ln w="12700">
            <a:solidFill>
              <a:srgbClr val="1E408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노인 음성 인식 개선 연구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4E8"/>
                </a:solidFill>
              </a:rPr>
              <a:t>Whisper-large-v3 베이스라인 측정 + H2 VAD 실험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286000" cy="4572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6400800" cy="640080"/>
          </a:xfrm>
          <a:prstGeom prst="rect">
            <a:avLst/>
          </a:prstGeom>
          <a:solidFill>
            <a:srgbClr val="1E4080">
              <a:alpha val="80000"/>
            </a:srgbClr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699"/>
                </a:solidFill>
              </a:rPr>
              <a:t>"가설이 빗나갔다 — 그런데 그 빗나간 방식이 핵심을 알려줬다"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CC0"/>
                </a:solidFill>
              </a:rPr>
              <a:t>발표자: [발표자명]  |  2025년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연구 배경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216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왜 노인 STT인가?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18488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184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문제 정의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노인 음성의 4가지 특성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6829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68296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682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연구 가설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715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H1 (LoRA) &amp; H2 (VAD)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18104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181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3163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데이터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34655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AI허브 샘플 · 5명 · 5.3시간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6791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67912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679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" y="3913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E0 베이스라인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4215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raw 6.85% → cleaned 4.25%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868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868680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868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라벨 정제 발견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76672" y="1216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측정 오차의 85%는 라벨 형식 차이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6184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1618488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6184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76672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핵심 코드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76672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정제·추론·VAD 구현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36829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368296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3682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H2 실험 (E2)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76672" y="2715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VAD 재튜닝 — 반박됨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1181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118104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1181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76672" y="3163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한계 &amp; 다음 단계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76672" y="34655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VOTE400 · LoRA 준비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386791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3867912"/>
            <a:ext cx="4572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8679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76672" y="3913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결론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76672" y="4215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가설→실험→반박→재설정 사이클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연구 배경: 왜 노인 STT인가?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4864" cy="7772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923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초고령사회 진입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252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2025년 한국 고령화율 20% 돌파 — 노인 AI 돌봄 수요 급증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54864" cy="7772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47088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STT의 실용 가치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231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케어로봇·원격진료·스마트홈에 음성인식이 핵심 인터페이스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25496"/>
            <a:ext cx="54864" cy="7772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825496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기존 STT의 편향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32095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학습 데이터 대부분이 청·장년 발화 → 노인 음성에서 성능 저하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03904"/>
            <a:ext cx="54864" cy="7772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03904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연구 공백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4187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노인 특화 한국어 STT 공개 벤치마크 거의 없음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868680"/>
            <a:ext cx="2834640" cy="4023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🇰🇷 한국 고령화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32A"/>
                </a:solidFill>
              </a:rPr>
              <a:t>20%+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3504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2025년 고령화율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32A"/>
                </a:solidFill>
              </a:rPr>
              <a:t>1,000만+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350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65세 이상 인구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32A"/>
                </a:solidFill>
              </a:rPr>
              <a:t>노인 STT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0350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공개 벤치마크 부재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문제 정의: 노인 음성의 4가지 특성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🐢  ① 느린 발화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말 속도가 느리고 단어 사이 간격이 넓음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" y="1828800"/>
            <a:ext cx="3931920" cy="64008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4513"/>
                </a:solidFill>
              </a:rPr>
              <a:t>예시: "안녕하...(1초)...세요 반...갑습니다"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22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🔇  ② 구음불명 (발음 불분명)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치아·근력 변화로 자음이 뭉개지거나 불분명해짐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64608" y="1828800"/>
            <a:ext cx="3931920" cy="64008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4513"/>
                </a:solidFill>
              </a:rPr>
              <a:t>예시: '버거워' → 모델이 '허거워'로 인식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0360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⏸️  ③ 발화 내 장휴지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문장 중간에 긴 침묵 삽입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" y="3886200"/>
            <a:ext cx="3931920" cy="64008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4513"/>
                </a:solidFill>
              </a:rPr>
              <a:t>예시: "그래서...(2초 침묵)...병원에 가서"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80360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🫁  ④ 잡음·헛기침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92040" y="3383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가래 소리, 헛기침, 호흡음이 발화에 섞임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64608" y="3886200"/>
            <a:ext cx="3931920" cy="64008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4513"/>
                </a:solidFill>
              </a:rPr>
              <a:t>예시: [기침소리] 이런 거는 뭐...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연구 가설: H1 &amp; H2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1005840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1005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914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LoRA (로라) 파인튜닝으로 노인 음성 CER 30% 이상 상대 개선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3898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LoRA = 모델 전체를 다시 학습하지 않고, 가중치 행렬에 작은 '보조 행렬'을 붙여 미세 조정하는 기법. 스티커처럼 붙였다 뗄 수 있어 저비용.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</a:rPr>
              <a:t>목표: cleaned CER 4.25% → 2.98% 이하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697480"/>
            <a:ext cx="1005840" cy="16916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97480"/>
            <a:ext cx="1005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외부 VAD로 긴 침묵 구간을 제거하면 Deletion 오류가 줄어든다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2644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VAD = Voice Activity Detection. 음성 신호에서 '말하고 있는 구간'과 '침묵 구간'을 자동으로 구분하는 알고리즘.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7764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</a:rPr>
              <a:t>검증 방법: 10초+ 발화 281개로 미니 실험 — E2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데이터: AI허브 노인 자유대화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196596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32A"/>
                </a:solidFill>
              </a:rPr>
              <a:t>5명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화자 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96596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32A"/>
                </a:solidFill>
              </a:rPr>
              <a:t>5.3시간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총 녹음 길이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196596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32A"/>
                </a:solidFill>
              </a:rPr>
              <a:t>2,930개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전체 발화 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822960"/>
            <a:ext cx="196596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32A"/>
                </a:solidFill>
              </a:rPr>
              <a:t>317분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</a:rPr>
              <a:t>총 발화 시간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화자 구성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502920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82296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화자 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성/나이/지역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발화 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CER(정제 후)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1526682663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 / 63 / 수도권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3.08%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1520916170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 / 75 / 수도권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4.16%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1531552733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 / 69 / 수도권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4.78%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1527825984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 / 71 / 충청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5.14%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1522434093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 / 60 / 경상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5.58%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577840" y="2011680"/>
            <a:ext cx="3246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📌 데이터 주의사항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669280" y="2560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화자 5명 중 여성 4명, 수도권 3명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0" y="2898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2A"/>
                </a:solidFill>
              </a:rPr>
              <a:t>→ 성별·지역 편향 존재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3236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구음장애·80세 이상 화자 없음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69280" y="35753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2A"/>
                </a:solidFill>
              </a:rPr>
              <a:t>→ '어려운' 노인 음성 미포함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0" y="39136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VOTE400 협약 완료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69280" y="42519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2A"/>
                </a:solidFill>
              </a:rPr>
              <a:t>→ 확장 데이터 도착 후 재측정 예정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E0 베이스라인 (raw): "어? 의외로 좋은데?"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365760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832A"/>
                </a:solidFill>
              </a:rPr>
              <a:t>6.85%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8"/>
                </a:solidFill>
              </a:rPr>
              <a:t>raw CER (라벨 정제 전)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CC0"/>
                </a:solidFill>
              </a:rPr>
              <a:t>(문헌 추정 20~30%의 약 1/3)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오류 유형 분해 (raw, 글자 단위)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0" y="1234440"/>
          <a:ext cx="4663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29718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핵심 발견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429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Deletion이 전체 CER의 62%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Deletion : Substitution = 2.5 :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→ 누락 오류가 압도적으로 많음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라벨 정제 발견: 측정 오차의 85%는 라벨 형식 차이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840480" cy="384048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정제 전 (raw)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4444"/>
                </a:solidFill>
              </a:rPr>
              <a:t>CER: 6.85%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4444"/>
                </a:solidFill>
              </a:rPr>
              <a:t>Deletion: 4.25%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← AI허브 태그가 오류로 집계됨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82296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22960"/>
            <a:ext cx="3840480" cy="384048"/>
          </a:xfrm>
          <a:prstGeom prst="rect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822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정제 후 (cleaned)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8B22"/>
                </a:solidFill>
              </a:rPr>
              <a:t>CER: 4.25%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8B22"/>
                </a:solidFill>
              </a:rPr>
              <a:t>Deletion: 0.69%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← 태그 제거 후 실제 모델 성능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2A"/>
                </a:solidFill>
              </a:rPr>
              <a:t>▶ −2.60%p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8503920" cy="169164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실제 예시: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4444"/>
                </a:solidFill>
              </a:rPr>
              <a:t>정답 (raw):    (NO:)생각이 많아지는 나이긴 하네(NO:)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8B22"/>
                </a:solidFill>
              </a:rPr>
              <a:t>정답 (cleaned): 생각이 많아지는 나이긴 하네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</a:rPr>
              <a:t>예측 (Whisper): 생각이 많아지는 나이긴 하네  →  정제 후 CER 0% (완벽 정답!)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코드 1: 라벨 정제 (TAG_RE) + 데이터 로더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태그 패턴 정의: (NO:...), (SP:...), (FP:...), (SN:...) 제거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TAG_RE = re.compile(r'\([A-Z]+:[^)]*\)|\([A-Z]+:\)')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정제 함수 적용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df['transcript_cleaned'] = df['transcript'].apply(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t: TAG_RE.sub('', t).strip())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8503920" cy="91440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▶ 이 코드를 거치면: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4513"/>
                </a:solidFill>
              </a:rPr>
              <a:t>"(NO:)언니 엄마는"  →  "언니 엄마는"  (불필요한 태그 제거)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폴더명 파싱: speaker_id = path.split('_')[3]  →  화자 ID 자동 추출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코드 2: Whisper 추론 + CER 계산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Whisper 추론 설정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WhisperForConditionalGeneration.from_pretrained(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'openai/whisper-large-v3')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model.generate(input_ids, num_beams=5, language='ko')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= jiwer.cer(reference=ref_text, hypothesis=pred_text)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8503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파라미터 의미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num_beams=5: 빔 서치 (beam search): 가장 그럴듯한 5가지 경로를 동시에 탐색 → 정확도 향상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language='ko': 한국어 강제 지정 → 영어로 잘못 인식하는 오류 방지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jiwer.cer(): 글자 단위로 삭제·대체·삽입 오류를 자동 계산하는 라이브러리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H2 미니 실험 (E2) 설계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8229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왜 10초+ 발화를 선택했나?  →  E0 분석에서 10초+ 발화의 Deletion이 10.57%로 압도적. VAD 실험 대상으로 적합.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416052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조건 A: 베이스라인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Whisper 내장 VAD 사용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(기본 설정, 변경 없음)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4160520" cy="4572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✂️  조건 B: Silero VAD 전처리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외부 Silero VAD로 오디오 먼저 분할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침묵 허용 기준: 2초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2A"/>
                </a:solidFill>
              </a:rPr>
              <a:t>281개 발화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화자 5명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모두 10초 이상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동일 Whisper-large-v3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H2 결과: 가설 반박됨 — 오히려 악화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</a:rPr>
              <a:t>6.23%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조건 A CER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4444"/>
                </a:solidFill>
              </a:rPr>
              <a:t>7.03%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조건 B CER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1965960" cy="1097280"/>
          </a:xfrm>
          <a:prstGeom prst="rect">
            <a:avLst/>
          </a:prstGeom>
          <a:solidFill>
            <a:srgbClr val="FFF0E0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4444"/>
                </a:solidFill>
              </a:rPr>
              <a:t>+0.80%p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ΔCER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822960"/>
            <a:ext cx="1965960" cy="1097280"/>
          </a:xfrm>
          <a:prstGeom prst="rect">
            <a:avLst/>
          </a:prstGeom>
          <a:solidFill>
            <a:srgbClr val="FFF0E0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4444"/>
                </a:solidFill>
              </a:rPr>
              <a:t>+0.74%p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ΔDel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발화별 결과 (281개)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2331720"/>
          <a:ext cx="43891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892040" y="201168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8348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4444"/>
                </a:solidFill>
              </a:rPr>
              <a:t>❌ VAD가 반복 발화를 잘라낸 사례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983480" y="2560320"/>
            <a:ext cx="374904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</a:rPr>
              <a:t>정답: "그래서 병원 그래서 병원에 가서 검사를..."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8348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8B22"/>
                </a:solidFill>
              </a:rPr>
              <a:t>조건A: "그래서 병원 그래서 병원에 가서 검사를..." ✓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8348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4444"/>
                </a:solidFill>
              </a:rPr>
              <a:t>조건B: "그래서 병원에 가서 검사를..." (앞부분 잘림)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83480" y="3538728"/>
            <a:ext cx="374904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</a:rPr>
              <a:t>정답: "실제로 보면 제주도 시장보다 더 크다고 더 크다는..."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834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8B22"/>
                </a:solidFill>
              </a:rPr>
              <a:t>조건A: 반복 포함 정확히 인식 ✓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983480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4444"/>
                </a:solidFill>
              </a:rPr>
              <a:t>조건B: 반복 구간 침묵으로 오판 → 삭제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코드 3: Silero VAD 전처리 (E2)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Silero VAD 모델 로드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vad_model, utils = torch.hub.load('snakers4/silero-vad', 'silero_vad')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2초 이상 침묵이면 발화 경계로 판단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 = get_speech_timestamps(audio, vad_model,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min_silence_duration_ms=2000)  # 노인 장휴지 허용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8503920" cy="1508760"/>
          </a:xfrm>
          <a:prstGeom prst="rect">
            <a:avLst/>
          </a:prstGeom>
          <a:solidFill>
            <a:srgbClr val="FFF0E0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444"/>
                </a:solidFill>
              </a:rPr>
              <a:t>⚠️ 이 코드가 일으킨 문제: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6B"/>
                </a:solidFill>
              </a:rPr>
              <a:t>정답:   "그래서 병원 [0.8초 침묵] 그래서 병원에 가서 검사를 했더니..."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8B22"/>
                </a:solidFill>
              </a:rPr>
              <a:t>VAD:   0.8초 침묵 → 발화 경계 아님 (2초 미만) → 합치기  (이건 맞음 ✓)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4444"/>
                </a:solidFill>
              </a:rPr>
              <a:t>BUT:   반복 발화 사이 간격을 침묵으로 오판 → 발화가 잘려서 앞부분 누락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한계 &amp; 다음 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현재 한계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4864" cy="64008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4444"/>
                </a:solidFill>
              </a:rPr>
              <a:t>단일 화자 편향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E2 281개 발화 중 279개가 특정 화자 — subgroup 분석 불가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54864" cy="64008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21408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4444"/>
                </a:solidFill>
              </a:rPr>
              <a:t>표준어 위주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60~75세 수도권 화자 → Whisper가 잘하는 케이스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54864" cy="64008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44368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4444"/>
                </a:solidFill>
              </a:rPr>
              <a:t>구음장애 미포함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발음 불분명한 80세 이상 화자 데이터 없음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767328"/>
            <a:ext cx="54864" cy="64008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67328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4444"/>
                </a:solidFill>
              </a:rPr>
              <a:t>GPU 없음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E1 LoRA 학습 미실행 — 학교 GPU 대기 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다음 단계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298448"/>
            <a:ext cx="731520" cy="96012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98448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1순위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14356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VOTE400 도착 시 subgroup 베이스라인 재측정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(구음장애/80세 이상 화자 별도 분석)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41401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414016"/>
            <a:ext cx="731520" cy="96012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14016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2순위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551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LoRA 파이프라인 코드 검증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(학교 GPU 확보 시 E1 본 학습)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529584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29584"/>
            <a:ext cx="731520" cy="96012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529584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3순위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36667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화자 추가 모집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(충청/경상/전라 지역 균형 확보)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결론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640080" cy="12344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2A"/>
                </a:solidFill>
              </a:rPr>
              <a:t>Whisper 한국어 노인 표준어 — 이미 잘한다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</a:rPr>
              <a:t>Cleaned CER 4.25% (전통 연구 추정 20~30% 대비 1/5)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</a:rPr>
              <a:t>"출발 가정을 솔직하게 업데이트함"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850392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94560"/>
            <a:ext cx="640080" cy="12344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945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2A"/>
                </a:solidFill>
              </a:rPr>
              <a:t>H2 외부 VAD는 반박됨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</a:rPr>
              <a:t>CER +0.80%p 악화. 반복 발화 문맥을 잘라내는 역효과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</a:rPr>
              <a:t>→ "외부 전처리보다 모델 내부 적응(LoRA)이 필요"를 정당화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566160"/>
            <a:ext cx="640080" cy="12344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661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2A"/>
                </a:solidFill>
              </a:rPr>
              <a:t>가설 → 실험 → 반박 → 방향 재설정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</a:rPr>
              <a:t>H2가 틀렸기 때문에 H1(LoRA)의 가치가 더 명확해짐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</a:rPr>
              <a:t>"빗나간 가설이 올바른 길을 가리켰다"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81728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2850"/>
                </a:solidFill>
              </a:rPr>
              <a:t>"가설이 빗나갔다 — 그런데 그 빗나간 방식이 핵심을 알려줬다"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Whisper 노인 음성 인식 연구</dc:title>
  <dc:subject>PptxGenJS Presentation</dc:subject>
  <dc:creator>PptxGenJS</dc:creator>
  <cp:lastModifiedBy>PptxGenJS</cp:lastModifiedBy>
  <cp:revision>1</cp:revision>
  <dcterms:created xsi:type="dcterms:W3CDTF">2026-05-20T00:18:53Z</dcterms:created>
  <dcterms:modified xsi:type="dcterms:W3CDTF">2026-05-20T00:18:53Z</dcterms:modified>
</cp:coreProperties>
</file>